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400"/>
            </a:pPr>
            <a:r>
              <a:t>中国岩馆数量增长趋势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岩馆数量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2020年</c:v>
                </c:pt>
                <c:pt idx="1">
                  <c:v>2022年</c:v>
                </c:pt>
                <c:pt idx="2">
                  <c:v>2023年</c:v>
                </c:pt>
                <c:pt idx="3">
                  <c:v>2024年</c:v>
                </c:pt>
                <c:pt idx="4">
                  <c:v>2025年1月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400</c:v>
                </c:pt>
                <c:pt idx="1">
                  <c:v>485</c:v>
                </c:pt>
                <c:pt idx="2">
                  <c:v>636</c:v>
                </c:pt>
                <c:pt idx="3">
                  <c:v>700</c:v>
                </c:pt>
                <c:pt idx="4">
                  <c:v>811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400"/>
            </a:pPr>
            <a:r>
              <a:t>主要城市岩馆数量TOP6 (估算)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岩馆数量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上海</c:v>
                </c:pt>
                <c:pt idx="1">
                  <c:v>北京</c:v>
                </c:pt>
                <c:pt idx="2">
                  <c:v>深圳</c:v>
                </c:pt>
                <c:pt idx="3">
                  <c:v>成都</c:v>
                </c:pt>
                <c:pt idx="4">
                  <c:v>杭州</c:v>
                </c:pt>
                <c:pt idx="5">
                  <c:v>广州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65</c:v>
                </c:pt>
                <c:pt idx="1">
                  <c:v>30</c:v>
                </c:pt>
                <c:pt idx="2">
                  <c:v>25</c:v>
                </c:pt>
                <c:pt idx="3">
                  <c:v>20</c:v>
                </c:pt>
                <c:pt idx="4">
                  <c:v>18</c:v>
                </c:pt>
                <c:pt idx="5">
                  <c:v>15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pPr>
              <a:defRPr sz="1400"/>
            </a:pPr>
            <a:r>
              <a:t>营收结构占比 (估算)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营收占比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门票收入</c:v>
                </c:pt>
                <c:pt idx="1">
                  <c:v>会员收入</c:v>
                </c:pt>
                <c:pt idx="2">
                  <c:v>课程培训</c:v>
                </c:pt>
                <c:pt idx="3">
                  <c:v>青少年培训</c:v>
                </c:pt>
                <c:pt idx="4">
                  <c:v>装备零售</c:v>
                </c:pt>
                <c:pt idx="5">
                  <c:v>其他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35</c:v>
                </c:pt>
                <c:pt idx="1">
                  <c:v>35</c:v>
                </c:pt>
                <c:pt idx="2">
                  <c:v>15</c:v>
                </c:pt>
                <c:pt idx="3">
                  <c:v>10</c:v>
                </c:pt>
                <c:pt idx="4">
                  <c:v>3</c:v>
                </c:pt>
                <c:pt idx="5">
                  <c:v>2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</c:pieChart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r>
              <a:t>投资成本结构 (总投资145-410万)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投资占比(%)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房租</c:v>
                </c:pt>
                <c:pt idx="1">
                  <c:v>岩壁建设</c:v>
                </c:pt>
                <c:pt idx="2">
                  <c:v>装修</c:v>
                </c:pt>
                <c:pt idx="3">
                  <c:v>岩点</c:v>
                </c:pt>
                <c:pt idx="4">
                  <c:v>设备</c:v>
                </c:pt>
                <c:pt idx="5">
                  <c:v>流动资金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25</c:v>
                </c:pt>
                <c:pt idx="1">
                  <c:v>35</c:v>
                </c:pt>
                <c:pt idx="2">
                  <c:v>12</c:v>
                </c:pt>
                <c:pt idx="3">
                  <c:v>8</c:v>
                </c:pt>
                <c:pt idx="4">
                  <c:v>7</c:v>
                </c:pt>
                <c:pt idx="5">
                  <c:v>13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</c:pieChart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主要品牌门店数量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门店数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岩舞空间</c:v>
                </c:pt>
                <c:pt idx="1">
                  <c:v>香蕉攀岩</c:v>
                </c:pt>
                <c:pt idx="2">
                  <c:v>奥攀</c:v>
                </c:pt>
                <c:pt idx="3">
                  <c:v>蓝天</c:v>
                </c:pt>
                <c:pt idx="4">
                  <c:v>熊猫</c:v>
                </c:pt>
                <c:pt idx="5">
                  <c:v>Rockplus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20</c:v>
                </c:pt>
                <c:pt idx="1">
                  <c:v>17</c:v>
                </c:pt>
                <c:pt idx="2">
                  <c:v>9</c:v>
                </c:pt>
                <c:pt idx="3">
                  <c:v>8</c:v>
                </c:pt>
                <c:pt idx="4">
                  <c:v>5</c:v>
                </c:pt>
                <c:pt idx="5">
                  <c:v>3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r>
              <a:t>性别分布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性别比例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女性</c:v>
                </c:pt>
                <c:pt idx="1">
                  <c:v>男性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49.4</c:v>
                </c:pt>
                <c:pt idx="1">
                  <c:v>50.6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</c:pieChart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560320"/>
            <a:ext cx="12191695" cy="137160"/>
          </a:xfrm>
          <a:prstGeom prst="rect">
            <a:avLst/>
          </a:prstGeom>
          <a:solidFill>
            <a:srgbClr val="FF7F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9260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003366"/>
                </a:solidFill>
              </a:defRPr>
            </a:pPr>
            <a:r>
              <a:t>攀岩运动市场发展前景分析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8404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808080"/>
                </a:solidFill>
              </a:defRPr>
            </a:pPr>
            <a:r>
              <a:t>攀岩馆发展现状及前景研究报告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7548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00000"/>
                </a:solidFill>
              </a:defRPr>
            </a:pPr>
            <a:r>
              <a:t>📊 研究范围: 中国 &amp; 美国市场对比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1663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00000"/>
                </a:solidFill>
              </a:defRPr>
            </a:pPr>
            <a:r>
              <a:t>📈 核心数据: 811家岩馆 | 31亿美元市场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5778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00000"/>
                </a:solidFill>
              </a:defRPr>
            </a:pPr>
            <a:r>
              <a:t>🎯 深度分析: 商业模式 | 竞争格局 | 用户画像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9893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00000"/>
                </a:solidFill>
              </a:defRPr>
            </a:pPr>
            <a:r>
              <a:t>💡 投资建议: 五大增长机会 &amp; 风险提示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2179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08080"/>
                </a:solidFill>
              </a:defRPr>
            </a:pPr>
            <a:r>
              <a:t>2026年3月  |  数据来源: 中国登山协会、数说故事、行业研报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报告目录</a:t>
            </a:r>
          </a:p>
        </p:txBody>
      </p:sp>
      <p:sp>
        <p:nvSpPr>
          <p:cNvPr id="4" name="Oval 3"/>
          <p:cNvSpPr/>
          <p:nvPr/>
        </p:nvSpPr>
        <p:spPr>
          <a:xfrm>
            <a:off x="731520" y="1371600"/>
            <a:ext cx="457200" cy="457200"/>
          </a:xfrm>
          <a:prstGeom prst="ellipse">
            <a:avLst/>
          </a:prstGeom>
          <a:solidFill>
            <a:srgbClr val="FF7F2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444752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4173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</a:defRPr>
            </a:pPr>
            <a:r>
              <a:t>执行摘要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7373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</a:defRPr>
            </a:pPr>
            <a:r>
              <a:t>核心发现与关键结论 | 中美市场对比</a:t>
            </a:r>
          </a:p>
        </p:txBody>
      </p:sp>
      <p:sp>
        <p:nvSpPr>
          <p:cNvPr id="8" name="Oval 7"/>
          <p:cNvSpPr/>
          <p:nvPr/>
        </p:nvSpPr>
        <p:spPr>
          <a:xfrm>
            <a:off x="731520" y="1965960"/>
            <a:ext cx="457200" cy="457200"/>
          </a:xfrm>
          <a:prstGeom prst="ellipse">
            <a:avLst/>
          </a:prstGeom>
          <a:solidFill>
            <a:srgbClr val="FF7F2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039112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011679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</a:defRPr>
            </a:pPr>
            <a:r>
              <a:t>市场发展历程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3317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</a:defRPr>
            </a:pPr>
            <a:r>
              <a:t>中国三阶段发展 | 美国成熟市场</a:t>
            </a:r>
          </a:p>
        </p:txBody>
      </p:sp>
      <p:sp>
        <p:nvSpPr>
          <p:cNvPr id="12" name="Oval 11"/>
          <p:cNvSpPr/>
          <p:nvPr/>
        </p:nvSpPr>
        <p:spPr>
          <a:xfrm>
            <a:off x="731520" y="2560320"/>
            <a:ext cx="457200" cy="457200"/>
          </a:xfrm>
          <a:prstGeom prst="ellipse">
            <a:avLst/>
          </a:prstGeom>
          <a:solidFill>
            <a:srgbClr val="FF7F2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2633472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2606039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</a:defRPr>
            </a:pPr>
            <a:r>
              <a:t>行业现状分析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2926079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</a:defRPr>
            </a:pPr>
            <a:r>
              <a:t>811家岩馆 | 城市分布 | 增长趋势</a:t>
            </a:r>
          </a:p>
        </p:txBody>
      </p:sp>
      <p:sp>
        <p:nvSpPr>
          <p:cNvPr id="16" name="Oval 15"/>
          <p:cNvSpPr/>
          <p:nvPr/>
        </p:nvSpPr>
        <p:spPr>
          <a:xfrm>
            <a:off x="731520" y="3154679"/>
            <a:ext cx="457200" cy="457200"/>
          </a:xfrm>
          <a:prstGeom prst="ellipse">
            <a:avLst/>
          </a:prstGeom>
          <a:solidFill>
            <a:srgbClr val="FF7F2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3227832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200399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</a:defRPr>
            </a:pPr>
            <a:r>
              <a:t>商业模式解析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3520439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</a:defRPr>
            </a:pPr>
            <a:r>
              <a:t>营收结构 | 单店模型 | 回本分析</a:t>
            </a:r>
          </a:p>
        </p:txBody>
      </p:sp>
      <p:sp>
        <p:nvSpPr>
          <p:cNvPr id="20" name="Oval 19"/>
          <p:cNvSpPr/>
          <p:nvPr/>
        </p:nvSpPr>
        <p:spPr>
          <a:xfrm>
            <a:off x="731520" y="3749039"/>
            <a:ext cx="457200" cy="457200"/>
          </a:xfrm>
          <a:prstGeom prst="ellipse">
            <a:avLst/>
          </a:prstGeom>
          <a:solidFill>
            <a:srgbClr val="FF7F2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3822191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3794759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</a:defRPr>
            </a:pPr>
            <a:r>
              <a:t>竞争格局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4114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</a:defRPr>
            </a:pPr>
            <a:r>
              <a:t>主要品牌 | 资本动态 | 竞争特征</a:t>
            </a:r>
          </a:p>
        </p:txBody>
      </p:sp>
      <p:sp>
        <p:nvSpPr>
          <p:cNvPr id="24" name="Oval 23"/>
          <p:cNvSpPr/>
          <p:nvPr/>
        </p:nvSpPr>
        <p:spPr>
          <a:xfrm>
            <a:off x="731520" y="4343400"/>
            <a:ext cx="457200" cy="457200"/>
          </a:xfrm>
          <a:prstGeom prst="ellipse">
            <a:avLst/>
          </a:prstGeom>
          <a:solidFill>
            <a:srgbClr val="FF7F2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4416552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71600" y="43891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</a:defRPr>
            </a:pPr>
            <a:r>
              <a:t>用户画像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71600" y="47091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</a:defRPr>
            </a:pPr>
            <a:r>
              <a:t>25-35岁白领 | 消费行为 | 青少年市场</a:t>
            </a:r>
          </a:p>
        </p:txBody>
      </p:sp>
      <p:sp>
        <p:nvSpPr>
          <p:cNvPr id="28" name="Oval 27"/>
          <p:cNvSpPr/>
          <p:nvPr/>
        </p:nvSpPr>
        <p:spPr>
          <a:xfrm>
            <a:off x="731520" y="4937760"/>
            <a:ext cx="457200" cy="457200"/>
          </a:xfrm>
          <a:prstGeom prst="ellipse">
            <a:avLst/>
          </a:prstGeom>
          <a:solidFill>
            <a:srgbClr val="FF7F2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" y="5010912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71600" y="49834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</a:defRPr>
            </a:pPr>
            <a:r>
              <a:t>产业链分析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71600" y="5303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</a:defRPr>
            </a:pPr>
            <a:r>
              <a:t>上游供应链 | 中游运营 | 下游消费</a:t>
            </a:r>
          </a:p>
        </p:txBody>
      </p:sp>
      <p:sp>
        <p:nvSpPr>
          <p:cNvPr id="32" name="Oval 31"/>
          <p:cNvSpPr/>
          <p:nvPr/>
        </p:nvSpPr>
        <p:spPr>
          <a:xfrm>
            <a:off x="731520" y="5532120"/>
            <a:ext cx="457200" cy="457200"/>
          </a:xfrm>
          <a:prstGeom prst="ellipse">
            <a:avLst/>
          </a:prstGeom>
          <a:solidFill>
            <a:srgbClr val="FF7F2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77240" y="5605272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371600" y="55778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</a:defRPr>
            </a:pPr>
            <a:r>
              <a:t>前景与机会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71600" y="58978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</a:defRPr>
            </a:pPr>
            <a:r>
              <a:t>五大增长机会 | 市场规模预测</a:t>
            </a:r>
          </a:p>
        </p:txBody>
      </p:sp>
      <p:sp>
        <p:nvSpPr>
          <p:cNvPr id="36" name="Oval 35"/>
          <p:cNvSpPr/>
          <p:nvPr/>
        </p:nvSpPr>
        <p:spPr>
          <a:xfrm>
            <a:off x="731520" y="6126480"/>
            <a:ext cx="457200" cy="457200"/>
          </a:xfrm>
          <a:prstGeom prst="ellipse">
            <a:avLst/>
          </a:prstGeom>
          <a:solidFill>
            <a:srgbClr val="FF7F2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77240" y="6199632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371600" y="61722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</a:defRPr>
            </a:pPr>
            <a:r>
              <a:t>风险提示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371600" y="6492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</a:defRPr>
            </a:pPr>
            <a:r>
              <a:t>五大风险 | 投资建议 | 数据缺口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336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核心发现：中美市场对比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097280"/>
            <a:ext cx="5760720" cy="4846320"/>
          </a:xfrm>
          <a:prstGeom prst="roundRect">
            <a:avLst/>
          </a:prstGeom>
          <a:solidFill>
            <a:srgbClr val="E6F0FF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70C0"/>
                </a:solidFill>
              </a:defRPr>
            </a:pPr>
            <a:r>
              <a:t>🇨🇳 中国市场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373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00000"/>
                </a:solidFill>
              </a:defRPr>
            </a:pPr>
            <a:r>
              <a:t>发展阶段: 爆发期 (高速增长)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1488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08080"/>
                </a:solidFill>
              </a:defRPr>
            </a:pPr>
            <a:r>
              <a:t>岩馆数量: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21488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0000"/>
                </a:solidFill>
              </a:defRPr>
            </a:pPr>
            <a:r>
              <a:t>811家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1488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B050"/>
                </a:solidFill>
              </a:defRPr>
            </a:pPr>
            <a:r>
              <a:t>+27.5% YoY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53288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08080"/>
                </a:solidFill>
              </a:defRPr>
            </a:pPr>
            <a:r>
              <a:t>市场增速: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0" y="253288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0000"/>
                </a:solidFill>
              </a:defRPr>
            </a:pPr>
            <a:r>
              <a:t>15-20%(估算)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0" y="253288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B050"/>
                </a:solidFill>
              </a:defRPr>
            </a:pPr>
            <a:r>
              <a:t>高速增长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916936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08080"/>
                </a:solidFill>
              </a:defRPr>
            </a:pPr>
            <a:r>
              <a:t>女性占比: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0" y="2916936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0000"/>
                </a:solidFill>
              </a:defRPr>
            </a:pPr>
            <a:r>
              <a:t>49.4%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0" y="2916936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B050"/>
                </a:solidFill>
              </a:defRPr>
            </a:pPr>
            <a:r>
              <a:t>接近男性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300984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08080"/>
                </a:solidFill>
              </a:defRPr>
            </a:pPr>
            <a:r>
              <a:t>主力用户: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0" y="3300984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0000"/>
                </a:solidFill>
              </a:defRPr>
            </a:pPr>
            <a:r>
              <a:t>25-35岁白领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0480" y="3300984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B050"/>
                </a:solidFill>
              </a:defRPr>
            </a:pPr>
            <a:r>
              <a:t>高学历群体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38404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08080"/>
                </a:solidFill>
              </a:defRPr>
            </a:pPr>
            <a:r>
              <a:t>⚠️ 市场规模: 暂无权威统计数据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2062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3366"/>
                </a:solidFill>
              </a:defRPr>
            </a:pPr>
            <a:r>
              <a:t>📈 增长驱动: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5262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0000"/>
                </a:solidFill>
              </a:defRPr>
            </a:pPr>
            <a:r>
              <a:t>奥运红利 + 社交媒体破圈 + 消费升级 + 政策扶持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26480" y="1097280"/>
            <a:ext cx="5760720" cy="4846320"/>
          </a:xfrm>
          <a:prstGeom prst="roundRect">
            <a:avLst/>
          </a:prstGeom>
          <a:solidFill>
            <a:srgbClr val="FFF5E6"/>
          </a:solidFill>
          <a:ln>
            <a:solidFill>
              <a:srgbClr val="FF7F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09360" y="12344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7F27"/>
                </a:solidFill>
              </a:defRPr>
            </a:pPr>
            <a:r>
              <a:t>🇺🇸 美国市场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60" y="17373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00000"/>
                </a:solidFill>
              </a:defRPr>
            </a:pPr>
            <a:r>
              <a:t>发展阶段: 成熟期 (稳健增长)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60" y="21488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08080"/>
                </a:solidFill>
              </a:defRPr>
            </a:pPr>
            <a:r>
              <a:t>市场规模: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63840" y="21488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0000"/>
                </a:solidFill>
              </a:defRPr>
            </a:pPr>
            <a:r>
              <a:t>31亿美元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92640" y="21488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7F27"/>
                </a:solidFill>
              </a:defRPr>
            </a:pPr>
            <a:r>
              <a:t>2024年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9360" y="253288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08080"/>
                </a:solidFill>
              </a:defRPr>
            </a:pPr>
            <a:r>
              <a:t>CAGR: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63840" y="253288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0000"/>
                </a:solidFill>
              </a:defRPr>
            </a:pPr>
            <a:r>
              <a:t>10.5%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92640" y="253288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7F27"/>
                </a:solidFill>
              </a:defRPr>
            </a:pPr>
            <a:r>
              <a:t>2024-2030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09360" y="2916936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08080"/>
                </a:solidFill>
              </a:defRPr>
            </a:pPr>
            <a:r>
              <a:t>2030预测: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63840" y="2916936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0000"/>
                </a:solidFill>
              </a:defRPr>
            </a:pPr>
            <a:r>
              <a:t>57亿美元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92640" y="2916936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7F27"/>
                </a:solidFill>
              </a:defRPr>
            </a:pPr>
            <a:r>
              <a:t>+84%增长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09360" y="3300984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08080"/>
                </a:solidFill>
              </a:defRPr>
            </a:pPr>
            <a:r>
              <a:t>全球占比: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63840" y="3300984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0000"/>
                </a:solidFill>
              </a:defRPr>
            </a:pPr>
            <a:r>
              <a:t>~37%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92640" y="3300984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7F27"/>
                </a:solidFill>
              </a:defRPr>
            </a:pPr>
            <a:r>
              <a:t>最大单一市场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09360" y="38404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08080"/>
                </a:solidFill>
              </a:defRPr>
            </a:pPr>
            <a:r>
              <a:t>⚠️ 详细数据: 暂未找到用户画像等数据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09360" y="42062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3366"/>
                </a:solidFill>
              </a:defRPr>
            </a:pPr>
            <a:r>
              <a:t>📊 市场特征: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09360" y="45262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0000"/>
                </a:solidFill>
              </a:defRPr>
            </a:pPr>
            <a:r>
              <a:t>消费习惯成熟 | 连锁化程度高 | 行业整合中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74320" y="5989320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3366"/>
                </a:solidFill>
              </a:defRPr>
            </a:pPr>
            <a:r>
              <a:t>💡 关键结论: 中国数量领先增速快，美国规模领先发展成熟，两者处于不同发展阶段，中国市场增长潜力更大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" y="62179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08080"/>
                </a:solidFill>
              </a:defRPr>
            </a:pPr>
            <a:r>
              <a:t>数据来源: 《2024中国攀岩行业发展报告》、Strategic Market Research、IMARC Group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336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中国市场发展历程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365760" y="1143000"/>
          <a:ext cx="6858000" cy="38404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498079" y="11887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</a:defRPr>
            </a:pPr>
            <a:r>
              <a:t>📊 关键数据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79" y="16002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08080"/>
                </a:solidFill>
              </a:defRPr>
            </a:pPr>
            <a:r>
              <a:t>2020年: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78240" y="16002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70C0"/>
                </a:solidFill>
              </a:defRPr>
            </a:pPr>
            <a:r>
              <a:t>400家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49840" y="16002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</a:defRPr>
            </a:pPr>
            <a:r>
              <a:t>首次入奥前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79" y="201168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08080"/>
                </a:solidFill>
              </a:defRPr>
            </a:pPr>
            <a:r>
              <a:t>2023年: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0" y="201168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70C0"/>
                </a:solidFill>
              </a:defRPr>
            </a:pPr>
            <a:r>
              <a:t>636家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49840" y="201168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</a:defRPr>
            </a:pPr>
            <a:r>
              <a:t>+31% 同比增长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79" y="242316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08080"/>
                </a:solidFill>
              </a:defRPr>
            </a:pPr>
            <a:r>
              <a:t>2025年1月: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0" y="242316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70C0"/>
                </a:solidFill>
              </a:defRPr>
            </a:pPr>
            <a:r>
              <a:t>811家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149840" y="242316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</a:defRPr>
            </a:pPr>
            <a:r>
              <a:t>+27.5% 同比增长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79" y="28346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08080"/>
                </a:solidFill>
              </a:defRPr>
            </a:pPr>
            <a:r>
              <a:t>5年累计增长: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78240" y="28346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70C0"/>
                </a:solidFill>
              </a:defRPr>
            </a:pPr>
            <a:r>
              <a:t>+102.8%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149840" y="283464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</a:defRPr>
            </a:pPr>
            <a:r>
              <a:t>翻倍以上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79" y="34747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3366"/>
                </a:solidFill>
              </a:defRPr>
            </a:pPr>
            <a:r>
              <a:t>📈 发展阶段划分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79" y="384048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0000"/>
                </a:solidFill>
              </a:defRPr>
            </a:pPr>
            <a:r>
              <a:t>【萌芽期 1987-2015】小众专业运动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79" y="420624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0000"/>
                </a:solidFill>
              </a:defRPr>
            </a:pPr>
            <a:r>
              <a:t>【成长期 2016-2020】入奥推动认知提升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79" y="457200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0000"/>
                </a:solidFill>
              </a:defRPr>
            </a:pPr>
            <a:r>
              <a:t>【爆发期 2021至今】奥运效应+社交媒体破圈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79" y="49834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7F27"/>
                </a:solidFill>
              </a:defRPr>
            </a:pPr>
            <a:r>
              <a:t>🏆 关键里程碑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79" y="5349240"/>
            <a:ext cx="4389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</a:defRPr>
            </a:pPr>
            <a:r>
              <a:t>• 2016年: 国际奥委会宣布攀岩入奥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79" y="5696712"/>
            <a:ext cx="4389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</a:defRPr>
            </a:pPr>
            <a:r>
              <a:t>• 2020年: 东京奥运会首次设攀岩项目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79" y="6044183"/>
            <a:ext cx="4389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</a:defRPr>
            </a:pPr>
            <a:r>
              <a:t>• 2024年: 巴黎奥运中国选手夺银，关注度飙升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2636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08080"/>
                </a:solidFill>
              </a:defRPr>
            </a:pPr>
            <a:r>
              <a:t>数据来源: 《2023中国攀岩行业分析报告》、《2024中国攀岩行业发展报告》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336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中国岩馆城市分布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365760" y="1143000"/>
          <a:ext cx="5943600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583680" y="11887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</a:defRPr>
            </a:pPr>
            <a:r>
              <a:t>🏙️ 城市分布特征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0" y="16459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70C0"/>
                </a:solidFill>
              </a:defRPr>
            </a:pPr>
            <a:r>
              <a:t>一线城市: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16459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0000"/>
                </a:solidFill>
              </a:defRPr>
            </a:pPr>
            <a:r>
              <a:t>密度最高，竞争激烈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1965960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</a:defRPr>
            </a:pPr>
            <a:r>
              <a:t>上海65家、北京30家领跑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24231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70C0"/>
                </a:solidFill>
              </a:defRPr>
            </a:pPr>
            <a:r>
              <a:t>新一线城市: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24231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0000"/>
                </a:solidFill>
              </a:defRPr>
            </a:pPr>
            <a:r>
              <a:t>增速最快，机会显著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743200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</a:defRPr>
            </a:pPr>
            <a:r>
              <a:t>成都、武汉、西安增长快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32004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70C0"/>
                </a:solidFill>
              </a:defRPr>
            </a:pPr>
            <a:r>
              <a:t>区域分布: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32004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0000"/>
                </a:solidFill>
              </a:defRPr>
            </a:pPr>
            <a:r>
              <a:t>华东华南为主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3520440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</a:defRPr>
            </a:pPr>
            <a:r>
              <a:t>上海、杭州、深圳密集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3977639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70C0"/>
                </a:solidFill>
              </a:defRPr>
            </a:pPr>
            <a:r>
              <a:t>西部崛起: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3977639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0000"/>
                </a:solidFill>
              </a:defRPr>
            </a:pPr>
            <a:r>
              <a:t>成都、西安表现亮眼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4297679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</a:defRPr>
            </a:pPr>
            <a:r>
              <a:t>二三线城市渗透率提升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" y="5029200"/>
            <a:ext cx="11430000" cy="1005840"/>
          </a:xfrm>
          <a:prstGeom prst="roundRect">
            <a:avLst/>
          </a:prstGeom>
          <a:solidFill>
            <a:srgbClr val="F0F8FF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51663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3366"/>
                </a:solidFill>
              </a:defRPr>
            </a:pPr>
            <a:r>
              <a:t>📈 全国数据汇总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55778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00000"/>
                </a:solidFill>
              </a:defRPr>
            </a:pPr>
            <a:r>
              <a:t>全国总计: 811家  |  同比增长: +27.5% (+175家)  |  综合馆占比: 72%  |  配备训练板: 41%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2636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08080"/>
                </a:solidFill>
              </a:defRPr>
            </a:pPr>
            <a:r>
              <a:t>数据来源: 《2024中国攀岩行业发展报告》、岩点媒体、企查查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336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攀岩馆营收结构分析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365760" y="1143000"/>
          <a:ext cx="5486400" cy="39319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035040" y="11887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</a:defRPr>
            </a:pPr>
            <a:r>
              <a:t>💰 价格体系详解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0" y="16002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08080"/>
                </a:solidFill>
              </a:defRPr>
            </a:pPr>
            <a:r>
              <a:t>单次体验: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80960" y="16002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7F27"/>
                </a:solidFill>
              </a:defRPr>
            </a:pPr>
            <a:r>
              <a:t>100-150元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0" y="1600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</a:defRPr>
            </a:pPr>
            <a:r>
              <a:t>尝鲜用户首选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0" y="203911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08080"/>
                </a:solidFill>
              </a:defRPr>
            </a:pPr>
            <a:r>
              <a:t>10次卡: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0" y="203911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7F27"/>
                </a:solidFill>
              </a:defRPr>
            </a:pPr>
            <a:r>
              <a:t>800-1200元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0" y="203911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</a:defRPr>
            </a:pPr>
            <a:r>
              <a:t>占比36%(下降)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0" y="2478024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08080"/>
                </a:solidFill>
              </a:defRPr>
            </a:pPr>
            <a:r>
              <a:t>月卡: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0" y="2478024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7F27"/>
                </a:solidFill>
              </a:defRPr>
            </a:pPr>
            <a:r>
              <a:t>300-600元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18320" y="2478024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</a:defRPr>
            </a:pPr>
            <a:r>
              <a:t>稳定用户首选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35040" y="2916936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08080"/>
                </a:solidFill>
              </a:defRPr>
            </a:pPr>
            <a:r>
              <a:t>年卡: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2916936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7F27"/>
                </a:solidFill>
              </a:defRPr>
            </a:pPr>
            <a:r>
              <a:t>3000-4000元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18320" y="2916936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</a:defRPr>
            </a:pPr>
            <a:r>
              <a:t>忠实用户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35040" y="335584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08080"/>
                </a:solidFill>
              </a:defRPr>
            </a:pPr>
            <a:r>
              <a:t>青少年课时: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80960" y="335584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7F27"/>
                </a:solidFill>
              </a:defRPr>
            </a:pPr>
            <a:r>
              <a:t>200-500元/节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18320" y="335584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</a:defRPr>
            </a:pPr>
            <a:r>
              <a:t>高价值赛道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35040" y="37947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08080"/>
                </a:solidFill>
              </a:defRPr>
            </a:pPr>
            <a:r>
              <a:t>企业团建: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80960" y="37947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7F27"/>
                </a:solidFill>
              </a:defRPr>
            </a:pPr>
            <a:r>
              <a:t>5000-20000元/场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18320" y="37947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</a:defRPr>
            </a:pPr>
            <a:r>
              <a:t>B端高客单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35040" y="42519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3366"/>
                </a:solidFill>
              </a:defRPr>
            </a:pPr>
            <a:r>
              <a:t>📊 会员卡销售趋势变化 (2023→2024)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35040" y="46177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</a:defRPr>
            </a:pPr>
            <a:r>
              <a:t>• 单次卡: 20% → 29% (↑ 尝鲜用户增多)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35040" y="4937759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</a:defRPr>
            </a:pPr>
            <a:r>
              <a:t>• 10次卡: 45% → 36% (↓ 消费习惯改变)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35040" y="5257799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</a:defRPr>
            </a:pPr>
            <a:r>
              <a:t>• 年卡: 占比略有下降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65760" y="5257800"/>
            <a:ext cx="5486400" cy="960120"/>
          </a:xfrm>
          <a:prstGeom prst="roundRect">
            <a:avLst/>
          </a:prstGeom>
          <a:solidFill>
            <a:srgbClr val="FFFAF0"/>
          </a:solidFill>
          <a:ln>
            <a:solidFill>
              <a:srgbClr val="FF7F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53949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7F27"/>
                </a:solidFill>
              </a:defRPr>
            </a:pPr>
            <a:r>
              <a:t>⭐ 青少年培训是高价值赛道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57607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0000"/>
                </a:solidFill>
              </a:defRPr>
            </a:pPr>
            <a:r>
              <a:t>高客单价 × 高续费率(50%) × 快回本(2年)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2636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08080"/>
                </a:solidFill>
              </a:defRPr>
            </a:pPr>
            <a:r>
              <a:t>数据来源: 《2024中国攀岩行业发展报告》、36氪、21经济网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336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单店投资与回本分析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365760" y="1143000"/>
          <a:ext cx="5486400" cy="39319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035040" y="11887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3366"/>
                </a:solidFill>
              </a:defRPr>
            </a:pPr>
            <a:r>
              <a:t>📋 投资明细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0" y="1600200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</a:defRPr>
            </a:pPr>
            <a:r>
              <a:t>场地租赁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0" y="1600200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70C0"/>
                </a:solidFill>
              </a:defRPr>
            </a:pPr>
            <a:r>
              <a:t>30-100万/年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1600200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</a:defRPr>
            </a:pPr>
            <a:r>
              <a:t>20-30%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0" y="1984248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</a:defRPr>
            </a:pPr>
            <a:r>
              <a:t>岩壁建设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0" y="1984248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70C0"/>
                </a:solidFill>
              </a:defRPr>
            </a:pPr>
            <a:r>
              <a:t>50-150万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0" y="1984248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</a:defRPr>
            </a:pPr>
            <a:r>
              <a:t>30-40%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0" y="2368296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</a:defRPr>
            </a:pPr>
            <a:r>
              <a:t>装修改造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0" y="2368296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70C0"/>
                </a:solidFill>
              </a:defRPr>
            </a:pPr>
            <a:r>
              <a:t>20-50万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0" y="2368296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</a:defRPr>
            </a:pPr>
            <a:r>
              <a:t>10-15%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35040" y="2752344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</a:defRPr>
            </a:pPr>
            <a:r>
              <a:t>岩点采购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89520" y="2752344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70C0"/>
                </a:solidFill>
              </a:defRPr>
            </a:pPr>
            <a:r>
              <a:t>10-30万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0" y="2752344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</a:defRPr>
            </a:pPr>
            <a:r>
              <a:t>5-10%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35040" y="3136391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</a:defRPr>
            </a:pPr>
            <a:r>
              <a:t>设备设施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89520" y="3136391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70C0"/>
                </a:solidFill>
              </a:defRPr>
            </a:pPr>
            <a:r>
              <a:t>10-20万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26880" y="3136391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</a:defRPr>
            </a:pPr>
            <a:r>
              <a:t>5-10%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35040" y="3520439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</a:defRPr>
            </a:pPr>
            <a:r>
              <a:t>流动资金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89520" y="3520439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70C0"/>
                </a:solidFill>
              </a:defRPr>
            </a:pPr>
            <a:r>
              <a:t>20-50万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26880" y="3520439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</a:defRPr>
            </a:pPr>
            <a:r>
              <a:t>10-15%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35040" y="40233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3366"/>
                </a:solidFill>
              </a:defRPr>
            </a:pPr>
            <a:r>
              <a:t>⏱️ 回本周期对比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035040" y="4389120"/>
            <a:ext cx="5303520" cy="594360"/>
          </a:xfrm>
          <a:prstGeom prst="roundRect">
            <a:avLst/>
          </a:prstGeom>
          <a:solidFill>
            <a:srgbClr val="F5F5F5"/>
          </a:solidFill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72200" y="4480559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0000"/>
                </a:solidFill>
              </a:defRPr>
            </a:pPr>
            <a:r>
              <a:t>青少年培训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0" y="4480559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B050"/>
                </a:solidFill>
              </a:defRPr>
            </a:pPr>
            <a:r>
              <a:t>2年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18320" y="45262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08080"/>
                </a:solidFill>
              </a:defRPr>
            </a:pPr>
            <a:r>
              <a:t>高续费率50%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035040" y="5047488"/>
            <a:ext cx="5303520" cy="594360"/>
          </a:xfrm>
          <a:prstGeom prst="roundRect">
            <a:avLst/>
          </a:prstGeom>
          <a:solidFill>
            <a:srgbClr val="F5F5F5"/>
          </a:solidFill>
          <a:ln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172200" y="5138927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0000"/>
                </a:solidFill>
              </a:defRPr>
            </a:pPr>
            <a:r>
              <a:t>行业平均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12480" y="5138927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808080"/>
                </a:solidFill>
              </a:defRPr>
            </a:pPr>
            <a:r>
              <a:t>3-5年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418320" y="518464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08080"/>
                </a:solidFill>
              </a:defRPr>
            </a:pPr>
            <a:r>
              <a:t>普遍水平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035040" y="5705855"/>
            <a:ext cx="5303520" cy="594360"/>
          </a:xfrm>
          <a:prstGeom prst="roundRect">
            <a:avLst/>
          </a:prstGeom>
          <a:solidFill>
            <a:srgbClr val="F5F5F5"/>
          </a:solidFill>
          <a:ln>
            <a:solidFill>
              <a:srgbClr val="C8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172200" y="5797295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0000"/>
                </a:solidFill>
              </a:defRPr>
            </a:pPr>
            <a:r>
              <a:t>风险项目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12480" y="5797295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80000"/>
                </a:solidFill>
              </a:defRPr>
            </a:pPr>
            <a:r>
              <a:t>5年+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418320" y="5843016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08080"/>
                </a:solidFill>
              </a:defRPr>
            </a:pPr>
            <a:r>
              <a:t>位置/运营不佳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59436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3366"/>
                </a:solidFill>
              </a:defRPr>
            </a:pPr>
            <a:r>
              <a:t>💡 关键成功因素: 选址(商场店) + 定位(青少年培训) + 运营(社群粘性) + 差异化竞争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62636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08080"/>
                </a:solidFill>
              </a:defRPr>
            </a:pPr>
            <a:r>
              <a:t>数据来源: 21经济网、36氪、行业访谈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336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主要连锁品牌竞争格局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365760" y="1143000"/>
          <a:ext cx="5943600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92240" y="11887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</a:defRPr>
            </a:pPr>
            <a:r>
              <a:t>🏆 品牌特色详解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92240" y="16459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70C0"/>
                </a:solidFill>
              </a:defRPr>
            </a:pPr>
            <a:r>
              <a:t>香蕉攀岩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16459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7F27"/>
                </a:solidFill>
              </a:defRPr>
            </a:pPr>
            <a:r>
              <a:t>17家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16459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</a:defRPr>
            </a:pPr>
            <a:r>
              <a:t>全国连锁龙头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1938528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08080"/>
                </a:solidFill>
              </a:defRPr>
            </a:pPr>
            <a:r>
              <a:t>覆盖北上广深+新一线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3317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70C0"/>
                </a:solidFill>
              </a:defRPr>
            </a:pPr>
            <a:r>
              <a:t>奥攀体育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23317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7F27"/>
                </a:solidFill>
              </a:defRPr>
            </a:pPr>
            <a:r>
              <a:t>9家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23317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</a:defRPr>
            </a:pPr>
            <a:r>
              <a:t>专注青少年培训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624327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08080"/>
                </a:solidFill>
              </a:defRPr>
            </a:pPr>
            <a:r>
              <a:t>续费率50%，回本2年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30175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70C0"/>
                </a:solidFill>
              </a:defRPr>
            </a:pPr>
            <a:r>
              <a:t>蓝天攀岩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0" y="3017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7F27"/>
                </a:solidFill>
              </a:defRPr>
            </a:pPr>
            <a:r>
              <a:t>8家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30175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</a:defRPr>
            </a:pPr>
            <a:r>
              <a:t>华南区域龙头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3310127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08080"/>
                </a:solidFill>
              </a:defRPr>
            </a:pPr>
            <a:r>
              <a:t>广州市场领导者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37033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70C0"/>
                </a:solidFill>
              </a:defRPr>
            </a:pPr>
            <a:r>
              <a:t>熊猫攀岩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0" y="37033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7F27"/>
                </a:solidFill>
              </a:defRPr>
            </a:pPr>
            <a:r>
              <a:t>5家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37033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</a:defRPr>
            </a:pPr>
            <a:r>
              <a:t>商场店模式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3995928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08080"/>
                </a:solidFill>
              </a:defRPr>
            </a:pPr>
            <a:r>
              <a:t>与大型商场深度合作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43891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70C0"/>
                </a:solidFill>
              </a:defRPr>
            </a:pPr>
            <a:r>
              <a:t>岩舞空间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0" y="43891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7F27"/>
                </a:solidFill>
              </a:defRPr>
            </a:pPr>
            <a:r>
              <a:t>20+家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0" y="43891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</a:defRPr>
            </a:pPr>
            <a:r>
              <a:t>加盟连锁模式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4681728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08080"/>
                </a:solidFill>
              </a:defRPr>
            </a:pPr>
            <a:r>
              <a:t>快速扩张，品牌输出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50749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70C0"/>
                </a:solidFill>
              </a:defRPr>
            </a:pPr>
            <a:r>
              <a:t>我攀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0" y="50749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7F27"/>
                </a:solidFill>
              </a:defRPr>
            </a:pPr>
            <a:r>
              <a:t>1家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0" y="50749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</a:defRPr>
            </a:pPr>
            <a:r>
              <a:t>王石+周鸿祎投资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5367528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08080"/>
                </a:solidFill>
              </a:defRPr>
            </a:pPr>
            <a:r>
              <a:t>高端会员制，近千万元融资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49377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3366"/>
                </a:solidFill>
              </a:defRPr>
            </a:pPr>
            <a:r>
              <a:t>📊 竞争格局特征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53035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</a:defRPr>
            </a:pPr>
            <a:r>
              <a:t>• 市场高度分散: CR5估计不足20%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5623559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</a:defRPr>
            </a:pPr>
            <a:r>
              <a:t>• 连锁化率较低: 单体店占主导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5760" y="5943599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</a:defRPr>
            </a:pPr>
            <a:r>
              <a:t>• 区域集中: 一线城市竞争激烈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5760" y="6263639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</a:defRPr>
            </a:pPr>
            <a:r>
              <a:t>• 资本入场: 知名企业家投资布局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92240" y="49377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7F27"/>
                </a:solidFill>
              </a:defRPr>
            </a:pPr>
            <a:r>
              <a:t>💰 资本动态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92240" y="53035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0000"/>
                </a:solidFill>
              </a:defRPr>
            </a:pPr>
            <a:r>
              <a:t>我攀攀岩获近千万融资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92240" y="56235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</a:defRPr>
            </a:pPr>
            <a:r>
              <a:t>投资人: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223760" y="562356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</a:defRPr>
            </a:pPr>
            <a:r>
              <a:t>王石(万科创始人) + 周鸿祎(360创始人)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92240" y="589788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</a:defRPr>
            </a:pPr>
            <a:r>
              <a:t>投资逻辑: 看好青少年培训赛道 + 健康生活方式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" y="62636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08080"/>
                </a:solidFill>
              </a:defRPr>
            </a:pPr>
            <a:r>
              <a:t>数据来源: 《2023中国攀岩行业分析报告》、21经济网、36氪、新浪财经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336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用户画像与消费行为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365760" y="1143000"/>
          <a:ext cx="4572000" cy="34747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65760" y="47548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</a:defRPr>
            </a:pPr>
            <a:r>
              <a:t>女性占比49.4%，在体育项目中较为罕见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0640" y="11887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3366"/>
                </a:solidFill>
              </a:defRPr>
            </a:pPr>
            <a:r>
              <a:t>👥 用户基础画像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20640" y="160020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08080"/>
                </a:solidFill>
              </a:defRPr>
            </a:pPr>
            <a:r>
              <a:t>年龄: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1600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0000"/>
                </a:solidFill>
              </a:defRPr>
            </a:pPr>
            <a:r>
              <a:t>25-35岁为主力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0640" y="1984248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08080"/>
                </a:solidFill>
              </a:defRPr>
            </a:pPr>
            <a:r>
              <a:t>学历: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198424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0000"/>
                </a:solidFill>
              </a:defRPr>
            </a:pPr>
            <a:r>
              <a:t>高学历人群为主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20640" y="2368296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08080"/>
                </a:solidFill>
              </a:defRPr>
            </a:pPr>
            <a:r>
              <a:t>职业: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0" y="2368296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0000"/>
                </a:solidFill>
              </a:defRPr>
            </a:pPr>
            <a:r>
              <a:t>白领、都市年轻人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20640" y="2752344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08080"/>
                </a:solidFill>
              </a:defRPr>
            </a:pPr>
            <a:r>
              <a:t>地域: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0" y="2752344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0000"/>
                </a:solidFill>
              </a:defRPr>
            </a:pPr>
            <a:r>
              <a:t>一二线城市集中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0" y="3136391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08080"/>
                </a:solidFill>
              </a:defRPr>
            </a:pPr>
            <a:r>
              <a:t>收入: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0" y="3136391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0000"/>
                </a:solidFill>
              </a:defRPr>
            </a:pPr>
            <a:r>
              <a:t>中高收入群体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20640" y="37033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7F27"/>
                </a:solidFill>
              </a:defRPr>
            </a:pPr>
            <a:r>
              <a:t>💳 消费行为特征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0640" y="40690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</a:defRPr>
            </a:pPr>
            <a:r>
              <a:t>• 零糖社交: 追求独立空间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20640" y="440740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</a:defRPr>
            </a:pPr>
            <a:r>
              <a:t>• 成就感驱动: 完成线路的满足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20640" y="4745736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</a:defRPr>
            </a:pPr>
            <a:r>
              <a:t>• 社交分享: 拍照打卡需求强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20640" y="5084064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</a:defRPr>
            </a:pPr>
            <a:r>
              <a:t>• 高频次: 月均签到可达11次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20" y="118872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B050"/>
                </a:solidFill>
              </a:defRPr>
            </a:pPr>
            <a:r>
              <a:t>👨‍👩‍👧 青少年家长画像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20" y="16002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0000"/>
                </a:solidFill>
              </a:defRPr>
            </a:pPr>
            <a:r>
              <a:t>20-50万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41280" y="16002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B050"/>
                </a:solidFill>
              </a:defRPr>
            </a:pPr>
            <a:r>
              <a:t>32%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03920" y="198424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0000"/>
                </a:solidFill>
              </a:defRPr>
            </a:pPr>
            <a:r>
              <a:t>50-100万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41280" y="1984248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B050"/>
                </a:solidFill>
              </a:defRPr>
            </a:pPr>
            <a:r>
              <a:t>28.8%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2368296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0000"/>
                </a:solidFill>
              </a:defRPr>
            </a:pPr>
            <a:r>
              <a:t>100万+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41280" y="2368296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B050"/>
                </a:solidFill>
              </a:defRPr>
            </a:pPr>
            <a:r>
              <a:t>约40%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03920" y="2752344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0000"/>
                </a:solidFill>
              </a:defRPr>
            </a:pPr>
            <a:r>
              <a:t>20万以上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241280" y="2752344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B050"/>
                </a:solidFill>
              </a:defRPr>
            </a:pPr>
            <a:r>
              <a:t>~60% (合计)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03920" y="32461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3366"/>
                </a:solidFill>
              </a:defRPr>
            </a:pPr>
            <a:r>
              <a:t>消费特征: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03920" y="356616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</a:defRPr>
            </a:pPr>
            <a:r>
              <a:t>• 高客单价: 200-500元/节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03920" y="3904487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</a:defRPr>
            </a:pPr>
            <a:r>
              <a:t>• 高续费率: 约50%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03920" y="4242816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</a:defRPr>
            </a:pPr>
            <a:r>
              <a:t>• 长消费周期: 5-10年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03920" y="4581144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</a:defRPr>
            </a:pPr>
            <a:r>
              <a:t>• 升学背景: 申请留学加分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589788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3366"/>
                </a:solidFill>
              </a:defRPr>
            </a:pPr>
            <a:r>
              <a:t>💰 消费金额参考: 单次100-150元  |  月卡300-600元  |  年卡3000-4000元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62636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08080"/>
                </a:solidFill>
              </a:defRPr>
            </a:pPr>
            <a:r>
              <a:t>数据来源: 《2023中国攀岩行业分析报告》、《2024中国攀岩行业发展报告》、得物白皮书、36氪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