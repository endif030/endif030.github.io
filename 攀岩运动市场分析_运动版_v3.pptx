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中美岩馆数量对比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岩馆数量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中国</c:v>
                </c:pt>
                <c:pt idx="1">
                  <c:v>美国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811</c:v>
                </c:pt>
                <c:pt idx="1">
                  <c:v>500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中国岩馆数量增长趋势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岩馆数量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2020年</c:v>
                </c:pt>
                <c:pt idx="1">
                  <c:v>2022年</c:v>
                </c:pt>
                <c:pt idx="2">
                  <c:v>2023年</c:v>
                </c:pt>
                <c:pt idx="3">
                  <c:v>2024年</c:v>
                </c:pt>
                <c:pt idx="4">
                  <c:v>2025年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400</c:v>
                </c:pt>
                <c:pt idx="1">
                  <c:v>485</c:v>
                </c:pt>
                <c:pt idx="2">
                  <c:v>636</c:v>
                </c:pt>
                <c:pt idx="3">
                  <c:v>700</c:v>
                </c:pt>
                <c:pt idx="4">
                  <c:v>811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主要城市岩馆数量 (估算)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岩馆数量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上海</c:v>
                </c:pt>
                <c:pt idx="1">
                  <c:v>北京</c:v>
                </c:pt>
                <c:pt idx="2">
                  <c:v>深圳</c:v>
                </c:pt>
                <c:pt idx="3">
                  <c:v>成都</c:v>
                </c:pt>
                <c:pt idx="4">
                  <c:v>杭州</c:v>
                </c:pt>
                <c:pt idx="5">
                  <c:v>广州</c:v>
                </c:pt>
                <c:pt idx="6">
                  <c:v>武汉</c:v>
                </c:pt>
                <c:pt idx="7">
                  <c:v>西安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65</c:v>
                </c:pt>
                <c:pt idx="1">
                  <c:v>30</c:v>
                </c:pt>
                <c:pt idx="2">
                  <c:v>25</c:v>
                </c:pt>
                <c:pt idx="3">
                  <c:v>20</c:v>
                </c:pt>
                <c:pt idx="4">
                  <c:v>18</c:v>
                </c:pt>
                <c:pt idx="5">
                  <c:v>15</c:v>
                </c:pt>
                <c:pt idx="6">
                  <c:v>12</c:v>
                </c:pt>
                <c:pt idx="7">
                  <c:v>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营收结构占比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营收占比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门票收入</c:v>
                </c:pt>
                <c:pt idx="1">
                  <c:v>会员收入</c:v>
                </c:pt>
                <c:pt idx="2">
                  <c:v>课程培训</c:v>
                </c:pt>
                <c:pt idx="3">
                  <c:v>青少年培训</c:v>
                </c:pt>
                <c:pt idx="4">
                  <c:v>装备零售</c:v>
                </c:pt>
                <c:pt idx="5">
                  <c:v>其他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35</c:v>
                </c:pt>
                <c:pt idx="2">
                  <c:v>15</c:v>
                </c:pt>
                <c:pt idx="3">
                  <c:v>10</c:v>
                </c:pt>
                <c:pt idx="4">
                  <c:v>3</c:v>
                </c:pt>
                <c:pt idx="5">
                  <c:v>2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投资成本结构 (总投资145-410万)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投资占比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房租</c:v>
                </c:pt>
                <c:pt idx="1">
                  <c:v>岩壁建设</c:v>
                </c:pt>
                <c:pt idx="2">
                  <c:v>装修</c:v>
                </c:pt>
                <c:pt idx="3">
                  <c:v>岩点</c:v>
                </c:pt>
                <c:pt idx="4">
                  <c:v>设备</c:v>
                </c:pt>
                <c:pt idx="5">
                  <c:v>流动资金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35</c:v>
                </c:pt>
                <c:pt idx="2">
                  <c:v>12</c:v>
                </c:pt>
                <c:pt idx="3">
                  <c:v>8</c:v>
                </c:pt>
                <c:pt idx="4">
                  <c:v>7</c:v>
                </c:pt>
                <c:pt idx="5">
                  <c:v>13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主要品牌门店数量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门店数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岩舞空间</c:v>
                </c:pt>
                <c:pt idx="1">
                  <c:v>香蕉攀岩</c:v>
                </c:pt>
                <c:pt idx="2">
                  <c:v>奥攀</c:v>
                </c:pt>
                <c:pt idx="3">
                  <c:v>蓝天</c:v>
                </c:pt>
                <c:pt idx="4">
                  <c:v>熊猫</c:v>
                </c:pt>
                <c:pt idx="5">
                  <c:v>Rockplus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17</c:v>
                </c:pt>
                <c:pt idx="2">
                  <c:v>9</c:v>
                </c:pt>
                <c:pt idx="3">
                  <c:v>8</c:v>
                </c:pt>
                <c:pt idx="4">
                  <c:v>5</c:v>
                </c:pt>
                <c:pt idx="5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性别分布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性别比例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女性</c:v>
                </c:pt>
                <c:pt idx="1">
                  <c:v>男性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49.4</c:v>
                </c:pt>
                <c:pt idx="1">
                  <c:v>50.6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13716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003366"/>
                </a:solidFill>
              </a:defRPr>
            </a:pPr>
            <a:r>
              <a:t>攀岩运动市场发展前景分析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808080"/>
                </a:solidFill>
              </a:defRPr>
            </a:pPr>
            <a:r>
              <a:t>攀岩馆发展现状及前景研究报告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08080"/>
                </a:solidFill>
              </a:defRPr>
            </a:pPr>
            <a:r>
              <a:t>2026年3月  |  数据来源: 中国登山协会、数说故事、行业研报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报告目录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17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执行摘要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916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核心发现与关键结论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3911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1167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市场发展历程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860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中国与美国发展对比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560320"/>
            <a:ext cx="457200" cy="457200"/>
          </a:xfrm>
          <a:prstGeom prst="ellipse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3347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60603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行业现状分析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8803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市场规模与增长数据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154679"/>
            <a:ext cx="457200" cy="457200"/>
          </a:xfrm>
          <a:prstGeom prst="ellipse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278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20039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商业模式解析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4747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营收结构与单店模型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3749039"/>
            <a:ext cx="457200" cy="457200"/>
          </a:xfrm>
          <a:prstGeom prst="ellipse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822191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79475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竞争格局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069079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主要品牌与资本动态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4343400"/>
            <a:ext cx="457200" cy="457200"/>
          </a:xfrm>
          <a:prstGeom prst="ellipse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41655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3891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用户画像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6634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消费行为与特征分析</a:t>
            </a:r>
          </a:p>
        </p:txBody>
      </p:sp>
      <p:sp>
        <p:nvSpPr>
          <p:cNvPr id="28" name="Oval 27"/>
          <p:cNvSpPr/>
          <p:nvPr/>
        </p:nvSpPr>
        <p:spPr>
          <a:xfrm>
            <a:off x="731520" y="4937760"/>
            <a:ext cx="457200" cy="457200"/>
          </a:xfrm>
          <a:prstGeom prst="ellipse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01091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9834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产业链分析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257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上中下游全景梳理</a:t>
            </a:r>
          </a:p>
        </p:txBody>
      </p:sp>
      <p:sp>
        <p:nvSpPr>
          <p:cNvPr id="32" name="Oval 31"/>
          <p:cNvSpPr/>
          <p:nvPr/>
        </p:nvSpPr>
        <p:spPr>
          <a:xfrm>
            <a:off x="731520" y="5532120"/>
            <a:ext cx="457200" cy="457200"/>
          </a:xfrm>
          <a:prstGeom prst="ellipse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60527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577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前景与机会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852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五大增长机会点</a:t>
            </a:r>
          </a:p>
        </p:txBody>
      </p:sp>
      <p:sp>
        <p:nvSpPr>
          <p:cNvPr id="36" name="Oval 35"/>
          <p:cNvSpPr/>
          <p:nvPr/>
        </p:nvSpPr>
        <p:spPr>
          <a:xfrm>
            <a:off x="731520" y="6126480"/>
            <a:ext cx="457200" cy="457200"/>
          </a:xfrm>
          <a:prstGeom prst="ellipse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61996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61722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风险提示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投资建议与风险提示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核心发现：中美市场对比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560320"/>
          </a:xfrm>
          <a:prstGeom prst="roundRect">
            <a:avLst/>
          </a:prstGeom>
          <a:solidFill>
            <a:srgbClr val="E6F0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0C0"/>
                </a:solidFill>
              </a:defRPr>
            </a:pPr>
            <a:r>
              <a:t>🇨🇳 中国市场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发展阶段: 爆发期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岩馆数量: 811家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B050"/>
                </a:solidFill>
              </a:defRPr>
            </a:pPr>
            <a:r>
              <a:t>同比增速: +27.5%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08080"/>
                </a:solidFill>
              </a:defRPr>
            </a:pPr>
            <a:r>
              <a:t>⚠️ 市场规模: 数据缺失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486400" cy="2560320"/>
          </a:xfrm>
          <a:prstGeom prst="roundRect">
            <a:avLst/>
          </a:prstGeom>
          <a:solidFill>
            <a:srgbClr val="FFF5E6"/>
          </a:solidFill>
          <a:ln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71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7F27"/>
                </a:solidFill>
              </a:defRPr>
            </a:pPr>
            <a:r>
              <a:t>🇺🇸 美国市场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发展阶段: 成熟期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86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市场规模: 31亿美元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51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B050"/>
                </a:solidFill>
              </a:defRPr>
            </a:pPr>
            <a:r>
              <a:t>CAGR: 10.5%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017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08080"/>
                </a:solidFill>
              </a:defRPr>
            </a:pPr>
            <a:r>
              <a:t>2030预测: 57亿美元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731520" y="3931920"/>
          <a:ext cx="50292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400800" y="4114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💡 关键结论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572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/>
            </a:pPr>
            <a:r>
              <a:t>• 中国数量领先，增速更快(27.5%)</a:t>
            </a:r>
          </a:p>
          <a:p>
            <a:pPr>
              <a:spcAft>
                <a:spcPts val="1200"/>
              </a:spcAft>
              <a:defRPr sz="1400"/>
            </a:pPr>
            <a:r>
              <a:t>• 美国规模领先，发展成熟</a:t>
            </a:r>
          </a:p>
          <a:p>
            <a:pPr>
              <a:spcAft>
                <a:spcPts val="1200"/>
              </a:spcAft>
              <a:defRPr sz="1400"/>
            </a:pPr>
            <a:r>
              <a:t>• 中国市场数据披露不足</a:t>
            </a:r>
          </a:p>
          <a:p>
            <a:pPr>
              <a:spcAft>
                <a:spcPts val="1200"/>
              </a:spcAft>
              <a:defRPr sz="1400"/>
            </a:pPr>
            <a:r>
              <a:t>• 两者处于不同发展阶段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中国市场发展历程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88720"/>
          <a:ext cx="64008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0" y="4754880"/>
            <a:ext cx="1371600" cy="457200"/>
          </a:xfrm>
          <a:prstGeom prst="roundRect">
            <a:avLst/>
          </a:prstGeom>
          <a:solidFill>
            <a:srgbClr val="FF7F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482803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2016年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482803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宣布入奥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5394960"/>
            <a:ext cx="1371600" cy="45720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54681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2020年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546811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东京奥运</a:t>
            </a:r>
          </a:p>
          <a:p>
            <a:r>
              <a:t>400家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6035040"/>
            <a:ext cx="1371600" cy="457200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61081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2024年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610819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巴黎夺牌</a:t>
            </a:r>
          </a:p>
          <a:p>
            <a:r>
              <a:t>811家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中国岩馆城市分布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88720"/>
          <a:ext cx="68580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📊 分布特征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01168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/>
            </a:pPr>
            <a:r>
              <a:t>• 一线城市密度最高</a:t>
            </a:r>
          </a:p>
          <a:p>
            <a:pPr>
              <a:spcAft>
                <a:spcPts val="1000"/>
              </a:spcAft>
              <a:defRPr sz="1400"/>
            </a:pPr>
            <a:r>
              <a:t>• 新一线城市增速最快</a:t>
            </a:r>
          </a:p>
          <a:p>
            <a:pPr>
              <a:spcAft>
                <a:spcPts val="1000"/>
              </a:spcAft>
              <a:defRPr sz="1400"/>
            </a:pPr>
            <a:r>
              <a:t>• 华东华南为主要聚集区</a:t>
            </a:r>
          </a:p>
          <a:p>
            <a:pPr>
              <a:spcAft>
                <a:spcPts val="1000"/>
              </a:spcAft>
              <a:defRPr sz="1400"/>
            </a:pPr>
            <a:r>
              <a:t>• 西部城市(成都/西安)崛起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035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📈 全国总计: 811家  |  同比增长: +27.5%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攀岩馆营收结构分析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88720"/>
          <a:ext cx="5486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371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💰 价格体系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单次体验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2011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7F27"/>
                </a:solidFill>
              </a:defRPr>
            </a:pPr>
            <a:r>
              <a:t>100-150元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688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10次卡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4688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7F27"/>
                </a:solidFill>
              </a:defRPr>
            </a:pPr>
            <a:r>
              <a:t>800-1200元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月卡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9260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7F27"/>
                </a:solidFill>
              </a:defRPr>
            </a:pPr>
            <a:r>
              <a:t>300-600元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383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年卡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3832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7F27"/>
                </a:solidFill>
              </a:defRPr>
            </a:pPr>
            <a:r>
              <a:t>3000-4000元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8404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青少年课时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8404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7F27"/>
                </a:solidFill>
              </a:defRPr>
            </a:pPr>
            <a:r>
              <a:t>200-500元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297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企业团建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297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7F27"/>
                </a:solidFill>
              </a:defRPr>
            </a:pPr>
            <a:r>
              <a:t>5000-20000元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303520"/>
            <a:ext cx="11247120" cy="1097280"/>
          </a:xfrm>
          <a:prstGeom prst="roundRect">
            <a:avLst/>
          </a:prstGeom>
          <a:solidFill>
            <a:srgbClr val="FFFAF0"/>
          </a:solidFill>
          <a:ln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4864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7F27"/>
                </a:solidFill>
              </a:defRPr>
            </a:pPr>
            <a:r>
              <a:t>⭐ 青少年培训是高价值赛道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高客单价 × 高续费率(50%) × 快回本(2年)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单店投资与回本分析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88720"/>
          <a:ext cx="59436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0" y="1371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⏱️ 回本周期对比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103120"/>
            <a:ext cx="411480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224027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行业平均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2240279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808080"/>
                </a:solidFill>
              </a:defRPr>
            </a:pPr>
            <a:r>
              <a:t>3-5年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926079"/>
            <a:ext cx="411480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306323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青少年培训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3063239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B050"/>
                </a:solidFill>
              </a:defRPr>
            </a:pPr>
            <a:r>
              <a:t>2年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3749039"/>
            <a:ext cx="411480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38862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高风险项目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3886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0000"/>
                </a:solidFill>
              </a:defRPr>
            </a:pPr>
            <a:r>
              <a:t>5年+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035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💡 关键成功因素: 选址(商场店) + 定位(青少年培训) + 运营(社群)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主要连锁品牌竞争格局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88720"/>
          <a:ext cx="6400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0" y="1371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🏆 品牌特色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20116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• 香蕉攀岩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0116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全国连锁龙头(17家)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4688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• 奥攀体育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24688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专注青少年培训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9260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• 蓝天攀岩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926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华南区域龙头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3832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• 熊猫攀岩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33832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商场店模式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84048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• 我攀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38404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王石+周鸿祎投资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43891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7F27"/>
                </a:solidFill>
              </a:defRPr>
            </a:pPr>
            <a:r>
              <a:t>💰 资本动态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8463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我攀(ClimberA)获近千万融资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52120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808080"/>
                </a:solidFill>
              </a:defRPr>
            </a:pPr>
            <a:r>
              <a:t>投资人: 王石(万科创始人) + 周鸿祎(360创始人)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用户画像与消费行为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88720"/>
          <a:ext cx="45720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0" y="1371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👥 用户特征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0116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• 年龄: 25-35岁主力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4688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• 学历: 高学历为主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9260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• 职业: 白领、年轻人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3832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• 地域: 一二线城市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38404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• 女性占比: 49.4%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43891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7F27"/>
                </a:solidFill>
              </a:defRPr>
            </a:pPr>
            <a:r>
              <a:t>💳 消费行为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48463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单次: 100-150元  |  月卡: 300-600元  |  年卡: 3000-4000元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634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👨‍👩‍👧 青少年家长家庭年收入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206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t>20-50万: 32%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4864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t>50-100万: 28.8%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521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t>20万以上: ~60%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