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274320" cy="2743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伊朗地缘政治冲突分析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0C0"/>
                </a:solidFill>
              </a:defRPr>
            </a:pPr>
            <a:r>
              <a:t>美以联合军事打击事件深度解析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</a:defRPr>
            </a:pPr>
            <a:r>
              <a:t>2026年3月2日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0C0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事件时间轴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0C0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23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核心矛盾分析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0C0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各方态势评估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0C0"/>
                </a:solidFill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9776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演变预测情景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7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0C0"/>
                </a:solidFill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75487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分析框架与启示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</a:defRPr>
            </a:pPr>
            <a:r>
              <a:t>事件时间轴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6858000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关键事件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3366"/>
                          </a:solidFill>
                        </a:defRPr>
                      </a:pPr>
                      <a:r>
                        <a:t>2025.06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前序冲突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以伊12天战争</a:t>
                      </a:r>
                    </a:p>
                    <a:p>
                      <a:r>
                        <a:t>• 伊朗无人机+导弹攻击</a:t>
                      </a:r>
                    </a:p>
                    <a:p>
                      <a:r>
                        <a:t>• 以暗杀伊高级指挥官</a:t>
                      </a:r>
                    </a:p>
                    <a:p>
                      <a:r>
                        <a:t>• 美提供THAAD支援</a:t>
                      </a:r>
                    </a:p>
                    <a:p>
                      <a:r>
                        <a:t>结果：以导弹防御库存耗尽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3366"/>
                          </a:solidFill>
                        </a:defRPr>
                      </a:pPr>
                      <a:r>
                        <a:t>2025.Q3-2026.02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外交博弈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日内瓦多轮核谈判</a:t>
                      </a:r>
                    </a:p>
                    <a:p>
                      <a:r>
                        <a:t>• 美要求：拆设施+交铀</a:t>
                      </a:r>
                    </a:p>
                    <a:p>
                      <a:r>
                        <a:t>• 伊立场：坚持和平用核</a:t>
                      </a:r>
                    </a:p>
                    <a:p>
                      <a:r>
                        <a:t>⚠️ 谈判僵局：立场差距巨大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3366"/>
                          </a:solidFill>
                        </a:defRPr>
                      </a:pPr>
                      <a:r>
                        <a:t>2026.02下旬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军事升级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美大规模军力集结中东</a:t>
                      </a:r>
                    </a:p>
                    <a:p>
                      <a:r>
                        <a:t>• 伊紧急与中国谈军售</a:t>
                      </a:r>
                    </a:p>
                    <a:p>
                      <a:r>
                        <a:t>• 特朗普政府实施新制裁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3366"/>
                          </a:solidFill>
                        </a:defRPr>
                      </a:pPr>
                      <a:r>
                        <a:t>2026.02.28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冲突爆发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05:00 以发动'先发制人'打击</a:t>
                      </a:r>
                    </a:p>
                    <a:p>
                      <a:r>
                        <a:t>08:00 美加入'重大作战行动'</a:t>
                      </a:r>
                    </a:p>
                    <a:p>
                      <a:r>
                        <a:t>12:00 伊反击4个美军基地</a:t>
                      </a:r>
                    </a:p>
                    <a:p>
                      <a:r>
                        <a:t>伤亡：53学生死亡+总参谋长死亡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数据来源：公开新闻报道整理，2026年3月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核心矛盾：核问题分歧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43400"/>
                <a:gridCol w="434340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美国/以色列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伊朗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t>核心诉求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完全放弃核能力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保留和平用核权利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t>具体要求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• 拆除全部核设施</a:t>
                      </a:r>
                    </a:p>
                    <a:p>
                      <a:r>
                        <a:t>• 交出所有浓缩铀</a:t>
                      </a:r>
                    </a:p>
                    <a:p>
                      <a:r>
                        <a:t>• 接受国际监督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• 拒绝完全弃核</a:t>
                      </a:r>
                    </a:p>
                    <a:p>
                      <a:r>
                        <a:t>• 要求解除制裁</a:t>
                      </a:r>
                    </a:p>
                    <a:p>
                      <a:r>
                        <a:t>• 保留浓缩能力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t>本质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安全关切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主权权利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t>可调和性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低（零容忍）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低（核心利益）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</a:defRPr>
            </a:pPr>
            <a:r>
              <a:t>矛盾本质：主权权利 vs 安全关切（结构性不可调和）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数据来源：公开资料分析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各方态势评估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评估维度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伊朗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以色列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美国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3366"/>
                          </a:solidFill>
                        </a:defRPr>
                      </a:pPr>
                      <a:r>
                        <a:t>军事态势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防空重创</a:t>
                      </a:r>
                    </a:p>
                    <a:p>
                      <a:r>
                        <a:t>仍可导弹反击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取得制空权</a:t>
                      </a:r>
                    </a:p>
                    <a:p>
                      <a:r>
                        <a:t>导弹库存耗尽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最大规模集结</a:t>
                      </a:r>
                    </a:p>
                    <a:p>
                      <a:r>
                        <a:t>7-10天打击能力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3366"/>
                          </a:solidFill>
                        </a:defRPr>
                      </a:pPr>
                      <a:r>
                        <a:t>核心目标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政权生存</a:t>
                      </a:r>
                    </a:p>
                    <a:p>
                      <a:r>
                        <a:t>维持抵抗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削弱伊军力</a:t>
                      </a:r>
                    </a:p>
                    <a:p>
                      <a:r>
                        <a:t>潜在政权更迭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重大作战行动</a:t>
                      </a:r>
                    </a:p>
                    <a:p>
                      <a:r>
                        <a:t>暗示政权更迭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3366"/>
                          </a:solidFill>
                        </a:defRPr>
                      </a:pPr>
                      <a:r>
                        <a:t>关键优势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代理人网络</a:t>
                      </a:r>
                    </a:p>
                    <a:p>
                      <a:r>
                        <a:t>海峡封锁能力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美以协同</a:t>
                      </a:r>
                    </a:p>
                    <a:p>
                      <a:r>
                        <a:t>技术装备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压倒性军力</a:t>
                      </a:r>
                    </a:p>
                    <a:p>
                      <a:r>
                        <a:t>全球投送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3366"/>
                          </a:solidFill>
                        </a:defRPr>
                      </a:pPr>
                      <a:r>
                        <a:t>主要风险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政权稳定性</a:t>
                      </a:r>
                    </a:p>
                    <a:p>
                      <a:r>
                        <a:t>经济崩溃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平民伤亡</a:t>
                      </a:r>
                    </a:p>
                    <a:p>
                      <a:r>
                        <a:t>代理人报复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目标模糊</a:t>
                      </a:r>
                    </a:p>
                    <a:p>
                      <a:r>
                        <a:t>长期化风险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3366"/>
                          </a:solidFill>
                        </a:defRPr>
                      </a:pPr>
                      <a:r>
                        <a:t>外部支持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中国（军售）</a:t>
                      </a:r>
                    </a:p>
                    <a:p>
                      <a:r>
                        <a:t>俄罗斯（有限）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美国（全面）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以色列（协同）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数据来源：公开资料分析，2026年3月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演变预测：短期情景（1-2周）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572000"/>
                <a:gridCol w="2286000"/>
              </a:tblGrid>
              <a:tr h="10287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情景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概率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描述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B050"/>
                          </a:solidFill>
                        </a:defRPr>
                      </a:pPr>
                      <a:r>
                        <a:t>A：有限冲突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B05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美以实现军事目标后停止</a:t>
                      </a:r>
                    </a:p>
                    <a:p>
                      <a:r>
                        <a:t>伊朗接受损失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外交窗口重启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7F27"/>
                          </a:solidFill>
                        </a:defRPr>
                      </a:pPr>
                      <a:r>
                        <a:t>B：持续消耗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7F27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美以持续打击</a:t>
                      </a:r>
                    </a:p>
                    <a:p>
                      <a:r>
                        <a:t>伊朗持续反击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消耗战模式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80000"/>
                          </a:solidFill>
                        </a:defRPr>
                      </a:pPr>
                      <a:r>
                        <a:t>C：升级失控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8000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伊朗封锁霍尔木兹</a:t>
                      </a:r>
                    </a:p>
                    <a:p>
                      <a:r>
                        <a:t>代理人全面参战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地区战争风险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关键变量监测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</a:defRPr>
            </a:pPr>
            <a:r>
              <a:t>伊朗政权稳定性 | 霍尔木兹海峡状态 | 国际油价 | 国际干预程度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数据来源：情景分析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演变预测：长期情景（3个月+）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66160" cy="3200400"/>
          </a:xfrm>
          <a:prstGeom prst="roundRect">
            <a:avLst/>
          </a:prstGeom>
          <a:solidFill>
            <a:srgbClr val="F5F8FC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</a:defRPr>
            </a:pPr>
            <a:r>
              <a:t>B：僵局持续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050"/>
                </a:solidFill>
              </a:defRPr>
            </a:pPr>
            <a:r>
              <a:t>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</a:defRPr>
            </a:pPr>
            <a:r>
              <a:t>伊朗保持抵抗</a:t>
            </a:r>
            <a:br/>
            <a:r>
              <a:t>制裁常态化</a:t>
            </a:r>
            <a:br/>
            <a:r>
              <a:t>地区不稳定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566160" cy="3200400"/>
          </a:xfrm>
          <a:prstGeom prst="roundRect">
            <a:avLst/>
          </a:prstGeom>
          <a:solidFill>
            <a:srgbClr val="F5F8FC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C：地区大战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7F27"/>
                </a:solidFill>
              </a:defRPr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</a:defRPr>
            </a:pPr>
            <a:r>
              <a:t>冲突扩大至中东</a:t>
            </a:r>
            <a:br/>
            <a:r>
              <a:t>多国卷入</a:t>
            </a:r>
            <a:br/>
            <a:r>
              <a:t>全球经济冲击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63040"/>
            <a:ext cx="3566160" cy="3200400"/>
          </a:xfrm>
          <a:prstGeom prst="roundRect">
            <a:avLst/>
          </a:prstGeom>
          <a:solidFill>
            <a:srgbClr val="F5F8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A：政权更迭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0C0"/>
                </a:solidFill>
              </a:defRPr>
            </a:pPr>
            <a: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</a:defRPr>
            </a:pPr>
            <a:r>
              <a:t>军事压力+内部动荡</a:t>
            </a:r>
            <a:br/>
            <a:r>
              <a:t>新政权亲西方</a:t>
            </a:r>
            <a:br/>
            <a:r>
              <a:t>中东秩序重组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04040"/>
                </a:solidFill>
              </a:defRPr>
            </a:pPr>
            <a:r>
              <a:t>中期最可能情景：持续低强度冲突 + 外交谈判并行 + 代理人骚扰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数据来源：情景分析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</a:defRPr>
            </a:pPr>
            <a:r>
              <a:t>关键启示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3716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决策者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</a:defRPr>
            </a:pPr>
            <a:r>
              <a:t>目标清晰性：美以战争目标模糊，可能陷入长期冲突</a:t>
            </a:r>
            <a:br/>
            <a:r>
              <a:t>成本意识：长期军事成本往往被低估</a:t>
            </a:r>
            <a:br/>
            <a:r>
              <a:t>意外后果：政权更迭可能导致更大混乱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137160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观察者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</a:defRPr>
            </a:pPr>
            <a:r>
              <a:t>表象≠本质：核问题是表象，地区主导权是本质</a:t>
            </a:r>
            <a:br/>
            <a:r>
              <a:t>多重维度：军事×政治×经济×社会交织</a:t>
            </a:r>
            <a:br/>
            <a:r>
              <a:t>不确定性：突发事件充满不可预测性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572000"/>
            <a:ext cx="137160" cy="13716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</a:defRPr>
            </a:pPr>
            <a:r>
              <a:t>分析者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</a:defRPr>
            </a:pPr>
            <a:r>
              <a:t>系统思维：避免单一维度分析</a:t>
            </a:r>
            <a:br/>
            <a:r>
              <a:t>动态视角：局势持续演变需跟踪</a:t>
            </a:r>
            <a:br/>
            <a:r>
              <a:t>概率思维：承认不确定性给概率区间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数据来源：分析总结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