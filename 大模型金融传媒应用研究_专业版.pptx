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274320" cy="2743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  <a:latin typeface="Microsoft YaHei"/>
              </a:defRPr>
            </a:pPr>
            <a:r>
              <a:t>大模型在金融与传媒行业的应用研究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70C0"/>
                </a:solidFill>
                <a:latin typeface="Microsoft YaHei"/>
              </a:defRPr>
            </a:pPr>
            <a:r>
              <a:t>市场现状、标杆案例与发展趋势分析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  <a:latin typeface="Microsoft YaHei"/>
              </a:defRPr>
            </a:pPr>
            <a:r>
              <a:t>2026年3月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C0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45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  <a:latin typeface="Microsoft YaHei"/>
              </a:defRPr>
            </a:pPr>
            <a:r>
              <a:t>研究背景与方法论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C0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423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  <a:latin typeface="Microsoft YaHei"/>
              </a:defRPr>
            </a:pPr>
            <a:r>
              <a:t>金融行业大模型应用现状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C0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  <a:latin typeface="Microsoft YaHei"/>
              </a:defRPr>
            </a:pPr>
            <a:r>
              <a:t>传媒行业大模型应用现状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776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C0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977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  <a:latin typeface="Microsoft YaHei"/>
              </a:defRPr>
            </a:pPr>
            <a:r>
              <a:t>标杆案例深度解析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C0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754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  <a:latin typeface="Microsoft YaHei"/>
              </a:defRPr>
            </a:pPr>
            <a:r>
              <a:t>市场格局与竞争态势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321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C0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532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  <a:latin typeface="Microsoft YaHei"/>
              </a:defRPr>
            </a:pPr>
            <a:r>
              <a:t>发展趋势与展望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366"/>
                </a:solidFill>
                <a:latin typeface="Microsoft YaHei"/>
              </a:defRPr>
            </a:pPr>
            <a:r>
              <a:t>研究背景：大模型成为产业变革核心驱动力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04040"/>
                </a:solidFill>
                <a:latin typeface="Microsoft YaHei"/>
              </a:defRPr>
            </a:pPr>
            <a:r>
              <a:t>• 2024-2025年，大模型技术进入规模化落地阶段，金融与传媒成为应用前沿阵地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04040"/>
                </a:solidFill>
                <a:latin typeface="Microsoft YaHei"/>
              </a:defRPr>
            </a:pPr>
            <a:r>
              <a:t>• 金融行业：数据密集、数字化基础良好，具备强烈的数智化升级需求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04040"/>
                </a:solidFill>
                <a:latin typeface="Microsoft YaHei"/>
              </a:defRPr>
            </a:pPr>
            <a:r>
              <a:t>• 传媒行业：内容生产全流程变革，AIGC从PGC/UGC向AIGC模式演进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04040"/>
                </a:solidFill>
                <a:latin typeface="Microsoft YaHei"/>
              </a:defRPr>
            </a:pPr>
            <a:r>
              <a:t>• 政策支持：国务院人工智能+行动意见明确金融领域重点部署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10515600" cy="2011680"/>
          </a:xfrm>
          <a:prstGeom prst="roundRect">
            <a:avLst/>
          </a:prstGeom>
          <a:solidFill>
            <a:srgbClr val="F5F8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Microsoft YaHei"/>
              </a:defRPr>
            </a:pPr>
            <a:r>
              <a:t>研究方法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• 一手资料：行业专家深度访谈（科大讯飞等）、企业实地调研</a:t>
            </a:r>
            <a:br/>
            <a:r>
              <a:t>• 二手资料：毕马威、沙利文、艾瑞等权威机构公开报告</a:t>
            </a:r>
            <a:br/>
            <a:r>
              <a:t>• 数据分析：市场规模、应用场景、标杆案例多维度对比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Microsoft YaHei"/>
              </a:defRPr>
            </a:pPr>
            <a:r>
              <a:t>数据来源：毕马威、沙利文、艾瑞咨询，2024-2025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  <a:latin typeface="Microsoft YaHei"/>
              </a:defRPr>
            </a:pPr>
            <a:r>
              <a:t>金融大模型市场：高速增长，2024年规模预计超38亿元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14630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26.46亿元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2024年市场规模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474720" cy="146304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0020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140%+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2860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2024年增长率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474720" cy="1463040"/>
          </a:xfrm>
          <a:prstGeom prst="round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0020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310亿元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860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2029年预测规模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• 2019-2024年CAGR达111.99%，2025-2029年预计CAGR为65.65%，增速逐步趋于稳健</a:t>
            </a:r>
            <a:br/>
            <a:r>
              <a:t>• MaaS模式占主导（约60%），预计2026年标准化产品份额将提升至70%以上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31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  <a:latin typeface="Microsoft YaHei"/>
              </a:defRPr>
            </a:pPr>
            <a:r>
              <a:t>3万亿元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Microsoft YaHei"/>
              </a:defRPr>
            </a:pPr>
            <a:r>
              <a:t>大模型驱动的商业模式预计到2030年为金融业带来的增量商业价值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Microsoft YaHei"/>
              </a:defRPr>
            </a:pPr>
            <a:r>
              <a:t>数据来源：头豹研究院、沙利文、公开资料整理，2024-2025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  <a:latin typeface="Microsoft YaHei"/>
              </a:defRPr>
            </a:pPr>
            <a:r>
              <a:t>金融大模型应用场景分布：客服、营销、风控三大核心场景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37160" cy="64008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04040"/>
                </a:solidFill>
                <a:latin typeface="Microsoft YaHei"/>
              </a:defRPr>
            </a:pPr>
            <a:r>
              <a:t>客户服务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7F27"/>
                </a:solidFill>
                <a:latin typeface="Microsoft YaHei"/>
              </a:defRPr>
            </a:pPr>
            <a:r>
              <a:t>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371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Microsoft YaHei"/>
              </a:defRPr>
            </a:pPr>
            <a:r>
              <a:t>智能客服、智能外呼、智能问答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48840"/>
            <a:ext cx="137160" cy="6400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04040"/>
                </a:solidFill>
                <a:latin typeface="Microsoft YaHei"/>
              </a:defRPr>
            </a:pPr>
            <a:r>
              <a:t>市场营销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70C0"/>
                </a:solidFill>
                <a:latin typeface="Microsoft YaHei"/>
              </a:defRPr>
            </a:pPr>
            <a:r>
              <a:t>55%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1488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Microsoft YaHei"/>
              </a:defRPr>
            </a:pPr>
            <a:r>
              <a:t>精准营销、内容生成、客户画像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26080"/>
            <a:ext cx="13716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04040"/>
                </a:solidFill>
                <a:latin typeface="Microsoft YaHei"/>
              </a:defRPr>
            </a:pPr>
            <a:r>
              <a:t>风险控制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461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Microsoft YaHei"/>
              </a:defRPr>
            </a:pPr>
            <a:r>
              <a:t>52%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926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Microsoft YaHei"/>
              </a:defRPr>
            </a:pPr>
            <a:r>
              <a:t>信贷审批、反欺诈、合规监测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03320"/>
            <a:ext cx="137160" cy="6400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703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04040"/>
                </a:solidFill>
                <a:latin typeface="Microsoft YaHei"/>
              </a:defRPr>
            </a:pPr>
            <a:r>
              <a:t>智能运营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703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Microsoft YaHei"/>
              </a:defRPr>
            </a:pPr>
            <a:r>
              <a:t>内部运营效率提升、流程自动化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80560"/>
            <a:ext cx="137160" cy="640080"/>
          </a:xfrm>
          <a:prstGeom prst="rect">
            <a:avLst/>
          </a:prstGeom>
          <a:solidFill>
            <a:srgbClr val="806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805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04040"/>
                </a:solidFill>
                <a:latin typeface="Microsoft YaHei"/>
              </a:defRPr>
            </a:pPr>
            <a:r>
              <a:t>智能投顾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4805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Microsoft YaHei"/>
              </a:defRPr>
            </a:pPr>
            <a:r>
              <a:t>投资建议、资产配置、财富管理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137160" cy="6400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257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04040"/>
                </a:solidFill>
                <a:latin typeface="Microsoft YaHei"/>
              </a:defRPr>
            </a:pPr>
            <a:r>
              <a:t>代码生成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2578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Microsoft YaHei"/>
              </a:defRPr>
            </a:pPr>
            <a:r>
              <a:t>研发辅助、代码自动生成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91%的受访金融科技企业看好大模型应用前景，47%已有技术和产品布局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Microsoft YaHei"/>
              </a:defRPr>
            </a:pPr>
            <a:r>
              <a:t>数据来源：毕马威2024中国金融科技企业首席洞察报告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  <a:latin typeface="Microsoft YaHei"/>
              </a:defRPr>
            </a:pPr>
            <a:r>
              <a:t>银行业标杆案例：工行、建行、平安等头部机构领先布局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486400" cy="2103120"/>
          </a:xfrm>
          <a:prstGeom prst="roundRect">
            <a:avLst/>
          </a:prstGeom>
          <a:solidFill>
            <a:srgbClr val="F5F8FC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Microsoft YaHei"/>
              </a:defRPr>
            </a:pPr>
            <a:r>
              <a:t>工商银行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工银智涌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404040"/>
                </a:solidFill>
                <a:latin typeface="Microsoft YaHei"/>
              </a:defRPr>
            </a:pPr>
            <a:r>
              <a:t>• 接入超200个数据源</a:t>
            </a:r>
            <a:br/>
            <a:r>
              <a:t>• 构建亿维特征体系</a:t>
            </a:r>
            <a:br/>
            <a:r>
              <a:t>• 数字员工覆盖67个场景，替代3.3亿笔业务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2103120"/>
          </a:xfrm>
          <a:prstGeom prst="roundRect">
            <a:avLst/>
          </a:prstGeom>
          <a:solidFill>
            <a:srgbClr val="F5F8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0C0"/>
                </a:solidFill>
                <a:latin typeface="Microsoft YaHei"/>
              </a:defRPr>
            </a:pPr>
            <a:r>
              <a:t>建设银行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企业级大模型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404040"/>
                </a:solidFill>
                <a:latin typeface="Microsoft YaHei"/>
              </a:defRPr>
            </a:pPr>
            <a:r>
              <a:t>• 赋能87个业务场景</a:t>
            </a:r>
            <a:br/>
            <a:r>
              <a:t>• 授信审批财务分析</a:t>
            </a:r>
            <a:br/>
            <a:r>
              <a:t>• MaaS平台体系化建设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57600"/>
            <a:ext cx="5486400" cy="2103120"/>
          </a:xfrm>
          <a:prstGeom prst="roundRect">
            <a:avLst/>
          </a:prstGeom>
          <a:solidFill>
            <a:srgbClr val="F5F8FC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94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7F27"/>
                </a:solidFill>
                <a:latin typeface="Microsoft YaHei"/>
              </a:defRPr>
            </a:pPr>
            <a:r>
              <a:t>平安银行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慧小喵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404040"/>
                </a:solidFill>
                <a:latin typeface="Microsoft YaHei"/>
              </a:defRPr>
            </a:pPr>
            <a:r>
              <a:t>• 审计专业问答</a:t>
            </a:r>
            <a:br/>
            <a:r>
              <a:t>• 问题诊断与报告撰写</a:t>
            </a:r>
            <a:br/>
            <a:r>
              <a:t>• 获工信部奖项认可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657600"/>
            <a:ext cx="5486400" cy="2103120"/>
          </a:xfrm>
          <a:prstGeom prst="roundRect">
            <a:avLst/>
          </a:prstGeom>
          <a:solidFill>
            <a:srgbClr val="F5F8FC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794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B050"/>
                </a:solidFill>
                <a:latin typeface="Microsoft YaHei"/>
              </a:defRPr>
            </a:pPr>
            <a:r>
              <a:t>邮储银行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1148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智能应用体系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4348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404040"/>
                </a:solidFill>
                <a:latin typeface="Microsoft YaHei"/>
              </a:defRPr>
            </a:pPr>
            <a:r>
              <a:t>• 数据标准智能推荐</a:t>
            </a:r>
            <a:br/>
            <a:r>
              <a:t>• 派生关系识别</a:t>
            </a:r>
            <a:br/>
            <a:r>
              <a:t>• 交易助理机器人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Microsoft YaHei"/>
              </a:defRPr>
            </a:pPr>
            <a:r>
              <a:t>数据来源：公开资料整理，2024-2025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  <a:latin typeface="Microsoft YaHei"/>
              </a:defRPr>
            </a:pPr>
            <a:r>
              <a:t>保险与证券行业：自研+合作双轮驱动，聚焦专业场景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保险行业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• 阳光保险：自研阳光正言GPT大模型，构建保险大模型评测体系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• 行业趋势：20%的保险公司已开展大模型试点应用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证券行业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• 华福证券：大模型破解证券开户低效难题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• 恒生电子：LightGPT金融大模型+光子系列应用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• 行业趋势：40%的证券与资管机构已开展试点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金融科技服务商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• 恒生电子：LightGPT + 光子应用系列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• 网商银行：AI大模型应用于产业链金融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346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• 蚂蚁集团：入选全球金融机构大模型TOP20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832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• 马上消费金融：入选全球金融机构大模型TOP20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Microsoft YaHei"/>
              </a:defRPr>
            </a:pPr>
            <a:r>
              <a:t>数据来源：头豹研究院、公开资料整理，2024-2025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  <a:latin typeface="Microsoft YaHei"/>
              </a:defRPr>
            </a:pPr>
            <a:r>
              <a:t>传媒大模型应用场景：覆盖内容生产全流程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828800" cy="2560320"/>
          </a:xfrm>
          <a:prstGeom prst="round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选题策划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热点挖掘</a:t>
            </a:r>
            <a:br/>
            <a:r>
              <a:t>选题推荐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59" y="1371600"/>
            <a:ext cx="1828800" cy="25603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59" y="1645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信息采集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99" y="219456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智能采编</a:t>
            </a:r>
            <a:br/>
            <a:r>
              <a:t>多源聚合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8" y="1371600"/>
            <a:ext cx="1828800" cy="25603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8" y="1645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内容生产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18" y="219456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文本生成</a:t>
            </a:r>
            <a:br/>
            <a:r>
              <a:t>视频/AI绘画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197" y="1371600"/>
            <a:ext cx="1828800" cy="256032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197" y="1645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内容审核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37" y="219456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智能审校</a:t>
            </a:r>
            <a:br/>
            <a:r>
              <a:t>合规检测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6" y="1371600"/>
            <a:ext cx="1828800" cy="2560320"/>
          </a:xfrm>
          <a:prstGeom prst="roundRect">
            <a:avLst/>
          </a:prstGeom>
          <a:solidFill>
            <a:srgbClr val="806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6" y="1645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内容分发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6" y="219456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个性化推荐</a:t>
            </a:r>
            <a:br/>
            <a:r>
              <a:t>精准投放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21235" y="1371600"/>
            <a:ext cx="1828800" cy="256032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35" y="1645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用户运营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75" y="219456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智能客服</a:t>
            </a:r>
            <a:br/>
            <a:r>
              <a:t>数字人交互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Microsoft YaHei"/>
              </a:defRPr>
            </a:pPr>
            <a:r>
              <a:t>核心趋势：AIGC融入媒体内容生产，从PGC/UGC向AIGC模式演进，多模态大模型推动内容生产视频化、全息化转型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Microsoft YaHei"/>
              </a:defRPr>
            </a:pPr>
            <a:r>
              <a:t>数据来源：艾瑞咨询专家访谈、2023-2024年传媒业大模型应用报告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  <a:latin typeface="Microsoft YaHei"/>
              </a:defRPr>
            </a:pPr>
            <a:r>
              <a:t>传媒标杆案例：央视、新华社等主流媒体引领AIGC创新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3366"/>
                </a:solidFill>
                <a:latin typeface="Microsoft YaHei"/>
              </a:defRPr>
            </a:pPr>
            <a:r>
              <a:t>中央广播电视总台 - 央视听媒体大模型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• 《千秋诗颂》：中国首部AI技术系列动画片，基于统编语文教材200多首诗词转化为国风动画</a:t>
            </a:r>
            <a:br/>
            <a:r>
              <a:t>• 全流程AI制作中国神话微短剧《补天》</a:t>
            </a:r>
            <a:br/>
            <a:r>
              <a:t>• 多模态大模型推动内容生产视频化、全息化转型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70C0"/>
                </a:solidFill>
                <a:latin typeface="Microsoft YaHei"/>
              </a:defRPr>
            </a:pPr>
            <a:r>
              <a:t>新华社/人民网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• VR数字月球项目</a:t>
            </a:r>
            <a:br/>
            <a:r>
              <a:t>• 智能审校系统：提升内容审核效率与准确性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7F27"/>
                </a:solidFill>
                <a:latin typeface="Microsoft YaHei"/>
              </a:defRPr>
            </a:pPr>
            <a:r>
              <a:t>大象融媒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• AIGC广泛应用于媒体信息内容生产</a:t>
            </a:r>
            <a:br/>
            <a:r>
              <a:t>• 动漫及影视短视频制作效率提升</a:t>
            </a:r>
            <a:br/>
            <a:r>
              <a:t>• AI科研应用人才培养与项目孵化</a:t>
            </a:r>
            <a:br/>
            <a:r>
              <a:t>• 推动内容订阅、广告分成、产业拓展和跨界合作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Microsoft YaHei"/>
              </a:defRPr>
            </a:pPr>
            <a:r>
              <a:t>数据来源：公开资料整理，2024-2025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  <a:latin typeface="Microsoft YaHei"/>
              </a:defRPr>
            </a:pPr>
            <a:r>
              <a:t>金融vs传媒：不同行业的差异化落地路径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Microsoft YaHei"/>
              </a:defRPr>
            </a:pPr>
            <a:r>
              <a:t>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Microsoft YaHei"/>
              </a:defRPr>
            </a:pPr>
            <a:r>
              <a:t>金融行业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Microsoft YaHei"/>
              </a:defRPr>
            </a:pPr>
            <a:r>
              <a:t>传媒行业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0972800" cy="25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Microsoft YaHei"/>
              </a:defRPr>
            </a:pPr>
            <a:r>
              <a:t>部署模式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92024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私有化部署为主</a:t>
            </a:r>
            <a:br/>
            <a:r>
              <a:t>数据安全合规优先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92024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公有云+私有化混合</a:t>
            </a:r>
            <a:br/>
            <a:r>
              <a:t>灵活适配内容生产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88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Microsoft YaHei"/>
              </a:defRPr>
            </a:pPr>
            <a:r>
              <a:t>核心诉求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78892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合规、风控、安全</a:t>
            </a:r>
            <a:br/>
            <a:r>
              <a:t>降本增效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78892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创意、效率、多模态</a:t>
            </a:r>
            <a:br/>
            <a:r>
              <a:t>内容质量提升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Microsoft YaHei"/>
              </a:defRPr>
            </a:pPr>
            <a:r>
              <a:t>落地速度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6576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1-2年试点期</a:t>
            </a:r>
            <a:br/>
            <a:r>
              <a:t>3-4年规模化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65760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快于金融</a:t>
            </a:r>
            <a:br/>
            <a:r>
              <a:t>内容生产直接应用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262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Microsoft YaHei"/>
              </a:defRPr>
            </a:pPr>
            <a:r>
              <a:t>技术重点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52628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数据分析、决策支持</a:t>
            </a:r>
            <a:br/>
            <a:r>
              <a:t>智能风控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52628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内容生成、多模态转换</a:t>
            </a:r>
            <a:br/>
            <a:r>
              <a:t>智能创作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949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Microsoft YaHei"/>
              </a:defRPr>
            </a:pPr>
            <a:r>
              <a:t>标杆案例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39496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工行、建行、平安</a:t>
            </a:r>
            <a:br/>
            <a:r>
              <a:t>蚂蚁集团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39496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央视、新华社</a:t>
            </a:r>
            <a:br/>
            <a:r>
              <a:t>大象融媒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Microsoft YaHei"/>
              </a:defRPr>
            </a:pPr>
            <a:r>
              <a:t>数据来源：艾瑞专家访谈、公开资料整理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  <a:latin typeface="Microsoft YaHei"/>
              </a:defRPr>
            </a:pPr>
            <a:r>
              <a:t>发展趋势：从概念验证走向价值实现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  <a:latin typeface="Microsoft YaHei"/>
              </a:defRPr>
            </a:pPr>
            <a:r>
              <a:t>金融大模型发展趋势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Microsoft YaHei"/>
              </a:defRPr>
            </a:pPr>
            <a:r>
              <a:t>• 进入以价值为导向的深化阶段，注重实效与ROI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7627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Microsoft YaHei"/>
              </a:defRPr>
            </a:pPr>
            <a:r>
              <a:t>• 建设模式呈现收敛性与标准化，寻找算力成本与合规的最优平衡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15184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Microsoft YaHei"/>
              </a:defRPr>
            </a:pPr>
            <a:r>
              <a:t>• 智能终端、智能体应用普及率预计2027年超70%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54096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Microsoft YaHei"/>
              </a:defRPr>
            </a:pPr>
            <a:r>
              <a:t>• 高质量数据将成为金融机构的核心竞争力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0C0"/>
                </a:solidFill>
                <a:latin typeface="Microsoft YaHei"/>
              </a:defRPr>
            </a:pPr>
            <a:r>
              <a:t>传媒大模型发展趋势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Microsoft YaHei"/>
              </a:defRPr>
            </a:pPr>
            <a:r>
              <a:t>• 多模态大模型深度参与视听产业链全流程，从创作到分发全环节变革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5371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Microsoft YaHei"/>
              </a:defRPr>
            </a:pPr>
            <a:r>
              <a:t>• 视频化、全息化转型加速，Sora等视频生成模型推动内容形态革新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92624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Microsoft YaHei"/>
              </a:defRPr>
            </a:pPr>
            <a:r>
              <a:t>• 人机共创成为主流模式，AIGC与专业创作者协同生产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Microsoft YaHei"/>
              </a:defRPr>
            </a:pPr>
            <a:r>
              <a:t>数据来源：毕马威2025报告、2023-2024年传媒业大模型应用报告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  <a:latin typeface="Microsoft YaHei"/>
              </a:defRPr>
            </a:pPr>
            <a:r>
              <a:t>核心结论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82880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Microsoft YaHei"/>
              </a:defRPr>
            </a:pPr>
            <a:r>
              <a:t>市场规模高速增长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3716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金融大模型市场2024年规模超26亿元，2029年预计达310亿元，2030年带来3万亿增量商业价值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Microsoft YaHei"/>
              </a:defRPr>
            </a:pPr>
            <a:r>
              <a:t>应用场景日趋成熟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5146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金融聚焦客服、营销、风控三大核心场景；传媒覆盖内容生产全流程，AIGC成为内容生产新范式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Microsoft YaHei"/>
              </a:defRPr>
            </a:pPr>
            <a:r>
              <a:t>头部机构引领落地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6576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工行、建行、平安等12家中国金融机构入选全球TOP20，央视、新华社引领传媒AIGC创新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006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Microsoft YaHei"/>
              </a:defRPr>
            </a:pPr>
            <a:r>
              <a:t>技术趋势明确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8006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404040"/>
                </a:solidFill>
                <a:latin typeface="Microsoft YaHei"/>
              </a:defRPr>
            </a:pPr>
            <a:r>
              <a:t>从概念验证走向价值实现，智能体成为应用形态共识，多模态大模型推动产业变革深化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08080"/>
                </a:solidFill>
                <a:latin typeface="Microsoft YaHei"/>
              </a:defRPr>
            </a:pPr>
            <a:r>
              <a:t>数据来源：综合本报告研究结论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