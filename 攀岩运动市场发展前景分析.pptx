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攀岩运动市场发展前景分析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攀岩馆发展现状及前景研究报告</a:t>
            </a:r>
          </a:p>
          <a:p/>
          <a:p>
            <a:r>
              <a:t>2026年3月</a:t>
            </a:r>
          </a:p>
          <a:p>
            <a:r>
              <a:t>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执行摘要</a:t>
            </a:r>
          </a:p>
          <a:p>
            <a:pPr/>
            <a:r>
              <a:t>2. 市场发展历程</a:t>
            </a:r>
          </a:p>
          <a:p>
            <a:pPr/>
            <a:r>
              <a:t>3. 行业现状分析</a:t>
            </a:r>
          </a:p>
          <a:p>
            <a:pPr/>
            <a:r>
              <a:t>4. 商业模式解析</a:t>
            </a:r>
          </a:p>
          <a:p>
            <a:pPr/>
            <a:r>
              <a:t>5. 竞争格局</a:t>
            </a:r>
          </a:p>
          <a:p>
            <a:pPr/>
            <a:r>
              <a:t>6. 用户画像</a:t>
            </a:r>
          </a:p>
          <a:p>
            <a:pPr/>
            <a:r>
              <a:t>7. 产业链分析</a:t>
            </a:r>
          </a:p>
          <a:p>
            <a:pPr/>
            <a:r>
              <a:t>8. 前景与机会</a:t>
            </a:r>
          </a:p>
          <a:p>
            <a:pPr/>
            <a:r>
              <a:t>9. 风险提示与建议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核心发现：中美市场对比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中国市场 (爆发期)</a:t>
            </a:r>
          </a:p>
          <a:p>
            <a:pPr>
              <a:spcAft>
                <a:spcPts val="800"/>
              </a:spcAft>
              <a:defRPr sz="1600"/>
            </a:pPr>
            <a:r>
              <a:t>• 岩馆数量: 811家 (2025.1)</a:t>
            </a:r>
          </a:p>
          <a:p>
            <a:pPr>
              <a:spcAft>
                <a:spcPts val="800"/>
              </a:spcAft>
              <a:defRPr sz="1600"/>
            </a:pPr>
            <a:r>
              <a:t>• 同比增速: +27.5%</a:t>
            </a:r>
          </a:p>
          <a:p>
            <a:pPr>
              <a:spcAft>
                <a:spcPts val="800"/>
              </a:spcAft>
              <a:defRPr sz="1600"/>
            </a:pPr>
            <a:r>
              <a:t>• 发展阶段: 高速增长</a:t>
            </a:r>
          </a:p>
          <a:p>
            <a:pPr>
              <a:spcAft>
                <a:spcPts val="800"/>
              </a:spcAft>
              <a:defRPr sz="1600"/>
            </a:pPr>
            <a:r>
              <a:t>• 市场规模: ⚠️ 数据缺失</a:t>
            </a:r>
          </a:p>
          <a:p>
            <a:pPr>
              <a:spcAft>
                <a:spcPts val="800"/>
              </a:spcAft>
              <a:defRPr sz="1600"/>
            </a:pPr>
            <a:r>
              <a:t>• 主力用户: 25-35岁白领</a:t>
            </a:r>
          </a:p>
          <a:p>
            <a:pPr>
              <a:spcAft>
                <a:spcPts val="800"/>
              </a:spcAft>
              <a:defRPr sz="1600"/>
            </a:pPr>
            <a:r>
              <a:t>• 女性占比: 49.4%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美国市场 (成熟期)</a:t>
            </a:r>
          </a:p>
          <a:p>
            <a:pPr>
              <a:spcAft>
                <a:spcPts val="800"/>
              </a:spcAft>
              <a:defRPr sz="1600"/>
            </a:pPr>
            <a:r>
              <a:t>• 市场规模: 31亿美元 (2024)</a:t>
            </a:r>
          </a:p>
          <a:p>
            <a:pPr>
              <a:spcAft>
                <a:spcPts val="800"/>
              </a:spcAft>
              <a:defRPr sz="1600"/>
            </a:pPr>
            <a:r>
              <a:t>• CAGR: 10.5%</a:t>
            </a:r>
          </a:p>
          <a:p>
            <a:pPr>
              <a:spcAft>
                <a:spcPts val="800"/>
              </a:spcAft>
              <a:defRPr sz="1600"/>
            </a:pPr>
            <a:r>
              <a:t>• 发展阶段: 稳健增长</a:t>
            </a:r>
          </a:p>
          <a:p>
            <a:pPr>
              <a:spcAft>
                <a:spcPts val="800"/>
              </a:spcAft>
              <a:defRPr sz="1600"/>
            </a:pPr>
            <a:r>
              <a:t>• 岩馆数量: ~500家</a:t>
            </a:r>
          </a:p>
          <a:p>
            <a:pPr>
              <a:spcAft>
                <a:spcPts val="800"/>
              </a:spcAft>
              <a:defRPr sz="1600"/>
            </a:pPr>
            <a:r>
              <a:t>• 2030预测: 57亿美元</a:t>
            </a:r>
          </a:p>
          <a:p>
            <a:pPr>
              <a:spcAft>
                <a:spcPts val="800"/>
              </a:spcAft>
              <a:defRPr sz="1600"/>
            </a:pPr>
            <a:r>
              <a:t>• 市场地位: 全球最大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四大关键结论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中国市场爆发增长: 奥运红利+社交媒体破圈，小红书笔记增30倍</a:t>
            </a:r>
          </a:p>
          <a:p>
            <a:pPr/>
            <a:r>
              <a:t>2. 美国市场成熟稳健: 规模领先，增速放缓，连锁化程度高</a:t>
            </a:r>
          </a:p>
          <a:p>
            <a:pPr/>
            <a:r>
              <a:t>3. 商业模式待验证: 单店回本3-5年，青少年培训是优质赛道(2年回本)</a:t>
            </a:r>
          </a:p>
          <a:p>
            <a:pPr/>
            <a:r>
              <a:t>4. 下沉市场机会显著: 新一线城市(成都/武汉/西安)增速领先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中国市场发展历程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【萌芽期 1987-2015】小众专业运动</a:t>
            </a:r>
          </a:p>
          <a:p>
            <a:pPr/>
            <a:r>
              <a:t>【成长期 2016-2020】入奥推动认知提升</a:t>
            </a:r>
          </a:p>
          <a:p>
            <a:pPr/>
            <a:r>
              <a:t>   • 2016年: 宣布入奥</a:t>
            </a:r>
          </a:p>
          <a:p>
            <a:pPr/>
            <a:r>
              <a:t>   • 2020年: 全国岩馆约400家</a:t>
            </a:r>
          </a:p>
          <a:p>
            <a:pPr/>
            <a:r>
              <a:t>【爆发期 2021至今】奥运效应+社交媒体破圈</a:t>
            </a:r>
          </a:p>
          <a:p>
            <a:pPr/>
            <a:r>
              <a:t>   • 2024年: 巴黎夺牌，811家岩馆(+27.5%)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中国市场现状：岩馆分布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全国岩馆总数: 811家 (2025年1月)</a:t>
            </a:r>
          </a:p>
          <a:p>
            <a:pPr/>
            <a:r>
              <a:t>同比增长: +175家 (+27.5%)</a:t>
            </a:r>
          </a:p>
          <a:p>
            <a:pPr/>
          </a:p>
          <a:p>
            <a:pPr/>
            <a:r>
              <a:t>城市分布:</a:t>
            </a:r>
          </a:p>
          <a:p>
            <a:pPr/>
            <a:r>
              <a:t>• 上海: 60-70家 (全国第一)</a:t>
            </a:r>
          </a:p>
          <a:p>
            <a:pPr/>
            <a:r>
              <a:t>• 北京: ~30家</a:t>
            </a:r>
          </a:p>
          <a:p>
            <a:pPr/>
            <a:r>
              <a:t>• 新一线(成都/武汉/西安): 增速最快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商业模式：单店投资模型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【投资成本】(145-410万元)</a:t>
            </a:r>
          </a:p>
          <a:p>
            <a:pPr/>
            <a:r>
              <a:t>• 场地租赁: 30-100万/年</a:t>
            </a:r>
          </a:p>
          <a:p>
            <a:pPr/>
            <a:r>
              <a:t>• 岩壁建设: 50-150万</a:t>
            </a:r>
          </a:p>
          <a:p>
            <a:pPr/>
            <a:r>
              <a:t>• 装修+设备+流动资金: 50-110万</a:t>
            </a:r>
          </a:p>
          <a:p>
            <a:pPr/>
          </a:p>
          <a:p>
            <a:pPr/>
            <a:r>
              <a:t>【回本周期】</a:t>
            </a:r>
          </a:p>
          <a:p>
            <a:pPr/>
            <a:r>
              <a:t>• 行业平均: 3-5年</a:t>
            </a:r>
          </a:p>
          <a:p>
            <a:pPr/>
            <a:r>
              <a:t>• 青少年培训: 2年 (高续费率50%)</a:t>
            </a:r>
          </a:p>
          <a:p>
            <a:pPr/>
            <a:r>
              <a:t>• 风险项目: 5年以上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获客渠道：社交媒体为王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【线上渠道】</a:t>
            </a:r>
          </a:p>
          <a:p>
            <a:pPr/>
            <a:r>
              <a:t>• 微信朋友圈: 71% (主要线上来源)</a:t>
            </a:r>
          </a:p>
          <a:p>
            <a:pPr/>
            <a:r>
              <a:t>• 小红书: 高增长，'种草'效应强</a:t>
            </a:r>
          </a:p>
          <a:p>
            <a:pPr/>
            <a:r>
              <a:t>• 抖音: 短视频引流</a:t>
            </a:r>
          </a:p>
          <a:p>
            <a:pPr/>
          </a:p>
          <a:p>
            <a:pPr/>
            <a:r>
              <a:t>【线下渠道】</a:t>
            </a:r>
          </a:p>
          <a:p>
            <a:pPr/>
            <a:r>
              <a:t>• 直接到访: 81% (商场自然客流)</a:t>
            </a:r>
          </a:p>
          <a:p>
            <a:pPr/>
            <a:r>
              <a:t>• 老带新/口碑: 高转化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竞争格局：主要连锁品牌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【全国连锁】</a:t>
            </a:r>
          </a:p>
          <a:p>
            <a:pPr/>
            <a:r>
              <a:t>• 香蕉攀岩: 17家 (门店数最多)</a:t>
            </a:r>
          </a:p>
          <a:p>
            <a:pPr/>
            <a:r>
              <a:t>• 岩舞空间: 20+家 (加盟模式)</a:t>
            </a:r>
          </a:p>
          <a:p>
            <a:pPr/>
          </a:p>
          <a:p>
            <a:pPr/>
            <a:r>
              <a:t>【区域龙头】</a:t>
            </a:r>
          </a:p>
          <a:p>
            <a:pPr/>
            <a:r>
              <a:t>• 奥攀体育: 9家 (北京，专注青少年)</a:t>
            </a:r>
          </a:p>
          <a:p>
            <a:pPr/>
            <a:r>
              <a:t>• 蓝天攀岩: 8家 (广州，华南龙头)</a:t>
            </a:r>
          </a:p>
          <a:p>
            <a:pPr/>
            <a:r>
              <a:t>• 熊猫攀岩: 5家 (成都，商场店)</a:t>
            </a:r>
          </a:p>
          <a:p>
            <a:pPr/>
          </a:p>
          <a:p>
            <a:pPr/>
            <a:r>
              <a:t>【资本关注】</a:t>
            </a:r>
          </a:p>
          <a:p>
            <a:pPr/>
            <a:r>
              <a:t>• 我攀: 王石+周鸿祎投资近千万元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用户画像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基础画像</a:t>
            </a:r>
          </a:p>
          <a:p>
            <a:pPr>
              <a:spcAft>
                <a:spcPts val="800"/>
              </a:spcAft>
              <a:defRPr sz="1600"/>
            </a:pPr>
            <a:r>
              <a:t>• 性别: 女性49.4%</a:t>
            </a:r>
          </a:p>
          <a:p>
            <a:pPr>
              <a:spcAft>
                <a:spcPts val="800"/>
              </a:spcAft>
              <a:defRPr sz="1600"/>
            </a:pPr>
            <a:r>
              <a:t>• 年龄: 25-35岁主力</a:t>
            </a:r>
          </a:p>
          <a:p>
            <a:pPr>
              <a:spcAft>
                <a:spcPts val="800"/>
              </a:spcAft>
              <a:defRPr sz="1600"/>
            </a:pPr>
            <a:r>
              <a:t>• 学历: 高学历为主</a:t>
            </a:r>
          </a:p>
          <a:p>
            <a:pPr>
              <a:spcAft>
                <a:spcPts val="800"/>
              </a:spcAft>
              <a:defRPr sz="1600"/>
            </a:pPr>
            <a:r>
              <a:t>• 职业: 白领、年轻人</a:t>
            </a:r>
          </a:p>
          <a:p>
            <a:pPr>
              <a:spcAft>
                <a:spcPts val="800"/>
              </a:spcAft>
              <a:defRPr sz="1600"/>
            </a:pPr>
            <a:r>
              <a:t>• 地域: 一二线城市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消费行为</a:t>
            </a:r>
          </a:p>
          <a:p>
            <a:pPr>
              <a:spcAft>
                <a:spcPts val="800"/>
              </a:spcAft>
              <a:defRPr sz="1600"/>
            </a:pPr>
            <a:r>
              <a:t>• 单次: 100-150元</a:t>
            </a:r>
          </a:p>
          <a:p>
            <a:pPr>
              <a:spcAft>
                <a:spcPts val="800"/>
              </a:spcAft>
              <a:defRPr sz="1600"/>
            </a:pPr>
            <a:r>
              <a:t>• 月卡: 300-600元</a:t>
            </a:r>
          </a:p>
          <a:p>
            <a:pPr>
              <a:spcAft>
                <a:spcPts val="800"/>
              </a:spcAft>
              <a:defRPr sz="1600"/>
            </a:pPr>
            <a:r>
              <a:t>• 年卡: 3000-4000元</a:t>
            </a:r>
          </a:p>
          <a:p>
            <a:pPr>
              <a:spcAft>
                <a:spcPts val="800"/>
              </a:spcAft>
              <a:defRPr sz="1600"/>
            </a:pPr>
            <a:r>
              <a:t>• 特征: 零糖社交</a:t>
            </a:r>
          </a:p>
          <a:p>
            <a:pPr>
              <a:spcAft>
                <a:spcPts val="800"/>
              </a:spcAft>
              <a:defRPr sz="1600"/>
            </a:pPr>
            <a:r>
              <a:t>• 需求: 成就感+分享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五大增长机会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⭐⭐⭐⭐⭐ 1. 青少年培训</a:t>
            </a:r>
          </a:p>
          <a:p>
            <a:pPr/>
            <a:r>
              <a:t>   高客单(200-500元/节)+高续费率(50%)+快回本(2年)</a:t>
            </a:r>
          </a:p>
          <a:p>
            <a:pPr/>
          </a:p>
          <a:p>
            <a:pPr/>
            <a:r>
              <a:t>⭐⭐⭐⭐ 2. 下沉市场</a:t>
            </a:r>
          </a:p>
          <a:p>
            <a:pPr/>
            <a:r>
              <a:t>   新一线城市(成都/武汉/西安)增速快、竞争小</a:t>
            </a:r>
          </a:p>
          <a:p>
            <a:pPr/>
          </a:p>
          <a:p>
            <a:pPr/>
            <a:r>
              <a:t>⭐⭐⭐⭐ 3. 商场主力店</a:t>
            </a:r>
          </a:p>
          <a:p>
            <a:pPr/>
            <a:r>
              <a:t>   替代传统零售，日均客流可达1000+</a:t>
            </a:r>
          </a:p>
          <a:p>
            <a:pPr/>
          </a:p>
          <a:p>
            <a:pPr/>
            <a:r>
              <a:t>⭐⭐⭐ 4. 女性市场 / 5. 企业团建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五大风险提示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⚠️ 1. 盲目跟风: 缺乏清晰商业模式，投资100万+打水漂</a:t>
            </a:r>
          </a:p>
          <a:p>
            <a:pPr/>
            <a:r>
              <a:t>⚠️ 2. 高投入长周期: 3-5年回本，资金链压力大</a:t>
            </a:r>
          </a:p>
          <a:p>
            <a:pPr/>
            <a:r>
              <a:t>⚠️ 3. 人才短缺: 教练、定线员供不应求</a:t>
            </a:r>
          </a:p>
          <a:p>
            <a:pPr/>
            <a:r>
              <a:t>⚠️ 4. 市场竞争: 一线城市趋于饱和</a:t>
            </a:r>
          </a:p>
          <a:p>
            <a:pPr/>
            <a:r>
              <a:t>⚠️ 5. 政策安全: 培训监管趋严，安全事故影响大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投资建议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对新进入者</a:t>
            </a:r>
          </a:p>
          <a:p>
            <a:pPr>
              <a:spcAft>
                <a:spcPts val="800"/>
              </a:spcAft>
              <a:defRPr sz="1600"/>
            </a:pPr>
            <a:r>
              <a:t>• 优先新一线城市</a:t>
            </a:r>
          </a:p>
          <a:p>
            <a:pPr>
              <a:spcAft>
                <a:spcPts val="800"/>
              </a:spcAft>
              <a:defRPr sz="1600"/>
            </a:pPr>
            <a:r>
              <a:t>• 差异化定位</a:t>
            </a:r>
          </a:p>
          <a:p>
            <a:pPr>
              <a:spcAft>
                <a:spcPts val="800"/>
              </a:spcAft>
              <a:defRPr sz="1600"/>
            </a:pPr>
            <a:r>
              <a:t>• 重视社媒营销</a:t>
            </a:r>
          </a:p>
          <a:p>
            <a:pPr>
              <a:spcAft>
                <a:spcPts val="800"/>
              </a:spcAft>
              <a:defRPr sz="1600"/>
            </a:pPr>
            <a:r>
              <a:t>• 控制初期投资</a:t>
            </a:r>
          </a:p>
          <a:p>
            <a:pPr>
              <a:spcAft>
                <a:spcPts val="800"/>
              </a:spcAft>
              <a:defRPr sz="1600"/>
            </a:pPr>
            <a:r>
              <a:t>• (100-150万验证)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对现有经营者</a:t>
            </a:r>
          </a:p>
          <a:p>
            <a:pPr>
              <a:spcAft>
                <a:spcPts val="800"/>
              </a:spcAft>
              <a:defRPr sz="1600"/>
            </a:pPr>
            <a:r>
              <a:t>• 发展青少年培训</a:t>
            </a:r>
          </a:p>
          <a:p>
            <a:pPr>
              <a:spcAft>
                <a:spcPts val="800"/>
              </a:spcAft>
              <a:defRPr sz="1600"/>
            </a:pPr>
            <a:r>
              <a:t>• 加强社群运营</a:t>
            </a:r>
          </a:p>
          <a:p>
            <a:pPr>
              <a:spcAft>
                <a:spcPts val="800"/>
              </a:spcAft>
              <a:defRPr sz="1600"/>
            </a:pPr>
            <a:r>
              <a:t>• 探索多元收入</a:t>
            </a:r>
          </a:p>
          <a:p>
            <a:pPr>
              <a:spcAft>
                <a:spcPts val="800"/>
              </a:spcAft>
              <a:defRPr sz="1600"/>
            </a:pPr>
            <a:r>
              <a:t>• 区域连锁化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核心数据汇总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【中国市场】</a:t>
            </a:r>
          </a:p>
          <a:p>
            <a:pPr/>
            <a:r>
              <a:t>• 岩馆: 811家 | 增速: 27.5% | 女性: 49.4%</a:t>
            </a:r>
          </a:p>
          <a:p>
            <a:pPr/>
            <a:r>
              <a:t>• 投资: 100-400万 | 回本: 3-5年</a:t>
            </a:r>
          </a:p>
          <a:p>
            <a:pPr/>
          </a:p>
          <a:p>
            <a:pPr/>
            <a:r>
              <a:t>【美国市场】</a:t>
            </a:r>
          </a:p>
          <a:p>
            <a:pPr/>
            <a:r>
              <a:t>• 规模: 31亿美元 | CAGR: 10.5%</a:t>
            </a:r>
          </a:p>
          <a:p>
            <a:pPr/>
            <a:r>
              <a:t>• 2030预测: 57亿美元</a:t>
            </a:r>
          </a:p>
          <a:p>
            <a:pPr/>
          </a:p>
          <a:p>
            <a:pPr/>
            <a:r>
              <a:t>【用户】</a:t>
            </a:r>
          </a:p>
          <a:p>
            <a:pPr/>
            <a:r>
              <a:t>• 主力: 25-35岁白领 | 消费: 100-150元/次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报告编制: niko 🦞</a:t>
            </a:r>
          </a:p>
          <a:p>
            <a:r>
              <a:t>完成日期: 2026年3月2日</a:t>
            </a:r>
          </a:p>
          <a:p/>
          <a:p>
            <a:r>
              <a:t>完整报告文件:</a:t>
            </a:r>
          </a:p>
          <a:p>
            <a:r>
              <a:t>攀岩运动市场发展前景分析报告_正式版_完整版.md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