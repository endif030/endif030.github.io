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中美岩馆数量对比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中国</c:v>
                </c:pt>
                <c:pt idx="1">
                  <c:v>美国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811</c:v>
                </c:pt>
                <c:pt idx="1">
                  <c:v>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中国岩馆数量增长趋势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2020年</c:v>
                </c:pt>
                <c:pt idx="1">
                  <c:v>2022年</c:v>
                </c:pt>
                <c:pt idx="2">
                  <c:v>2023年</c:v>
                </c:pt>
                <c:pt idx="3">
                  <c:v>2024年</c:v>
                </c:pt>
                <c:pt idx="4">
                  <c:v>2025年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</c:v>
                </c:pt>
                <c:pt idx="1">
                  <c:v>485</c:v>
                </c:pt>
                <c:pt idx="2">
                  <c:v>636</c:v>
                </c:pt>
                <c:pt idx="3">
                  <c:v>700</c:v>
                </c:pt>
                <c:pt idx="4">
                  <c:v>811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主要城市岩馆数量 (估算)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上海</c:v>
                </c:pt>
                <c:pt idx="1">
                  <c:v>北京</c:v>
                </c:pt>
                <c:pt idx="2">
                  <c:v>深圳</c:v>
                </c:pt>
                <c:pt idx="3">
                  <c:v>成都</c:v>
                </c:pt>
                <c:pt idx="4">
                  <c:v>杭州</c:v>
                </c:pt>
                <c:pt idx="5">
                  <c:v>广州</c:v>
                </c:pt>
                <c:pt idx="6">
                  <c:v>武汉</c:v>
                </c:pt>
                <c:pt idx="7">
                  <c:v>西安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</c:v>
                </c:pt>
                <c:pt idx="1">
                  <c:v>30</c:v>
                </c:pt>
                <c:pt idx="2">
                  <c:v>25</c:v>
                </c:pt>
                <c:pt idx="3">
                  <c:v>20</c:v>
                </c:pt>
                <c:pt idx="4">
                  <c:v>18</c:v>
                </c:pt>
                <c:pt idx="5">
                  <c:v>15</c:v>
                </c:pt>
                <c:pt idx="6">
                  <c:v>12</c:v>
                </c:pt>
                <c:pt idx="7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营收结构占比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营收占比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门票收入</c:v>
                </c:pt>
                <c:pt idx="1">
                  <c:v>会员收入</c:v>
                </c:pt>
                <c:pt idx="2">
                  <c:v>课程培训</c:v>
                </c:pt>
                <c:pt idx="3">
                  <c:v>青少年培训</c:v>
                </c:pt>
                <c:pt idx="4">
                  <c:v>装备零售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投资成本结构 (总投资145-410万)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投资占比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房租</c:v>
                </c:pt>
                <c:pt idx="1">
                  <c:v>岩壁建设</c:v>
                </c:pt>
                <c:pt idx="2">
                  <c:v>装修</c:v>
                </c:pt>
                <c:pt idx="3">
                  <c:v>岩点</c:v>
                </c:pt>
                <c:pt idx="4">
                  <c:v>设备</c:v>
                </c:pt>
                <c:pt idx="5">
                  <c:v>流动资金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35</c:v>
                </c:pt>
                <c:pt idx="2">
                  <c:v>12</c:v>
                </c:pt>
                <c:pt idx="3">
                  <c:v>8</c:v>
                </c:pt>
                <c:pt idx="4">
                  <c:v>7</c:v>
                </c:pt>
                <c:pt idx="5">
                  <c:v>13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主要品牌门店数量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门店数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岩舞空间</c:v>
                </c:pt>
                <c:pt idx="1">
                  <c:v>香蕉攀岩</c:v>
                </c:pt>
                <c:pt idx="2">
                  <c:v>奥攀</c:v>
                </c:pt>
                <c:pt idx="3">
                  <c:v>蓝天</c:v>
                </c:pt>
                <c:pt idx="4">
                  <c:v>熊猫</c:v>
                </c:pt>
                <c:pt idx="5">
                  <c:v>Rockplus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17</c:v>
                </c:pt>
                <c:pt idx="2">
                  <c:v>9</c:v>
                </c:pt>
                <c:pt idx="3">
                  <c:v>8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性别分布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性别比例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女性</c:v>
                </c:pt>
                <c:pt idx="1">
                  <c:v>男性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49.4</c:v>
                </c:pt>
                <c:pt idx="1">
                  <c:v>50.6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攀岩运动市场发展前景分析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808080"/>
                </a:solidFill>
              </a:defRPr>
            </a:pPr>
            <a:r>
              <a:t>攀岩馆发展现状及前景研究报告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2026年3月  |  数据来源: 中国登山协会、数说故事、行业研报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执行摘要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核心发现与关键结论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市场发展历程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860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中国与美国发展对比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33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0603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行业现状分析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80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市场规模与增长数据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154679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278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0039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商业模式解析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74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营收结构与单店模型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22191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5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竞争格局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6907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主要品牌与资本动态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89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用户画像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63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消费行为与特征分析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10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83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产业链分析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57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上中下游全景梳理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6052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577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前景与机会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852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五大增长机会点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" y="612648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199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6172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风险提示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投资建议与风险提示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核心发现：中美市场对比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E6F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🇨🇳 中国市场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发展阶段: 爆发期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岩馆数量: 811家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B050"/>
                </a:solidFill>
              </a:defRPr>
            </a:pPr>
            <a:r>
              <a:t>同比增速: +27.5%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⚠️ 市场规模: 数据缺失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FFF5E6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27"/>
                </a:solidFill>
              </a:defRPr>
            </a:pPr>
            <a:r>
              <a:t>🇺🇸 美国市场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发展阶段: 成熟期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市场规模: 31亿美元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B050"/>
                </a:solidFill>
              </a:defRPr>
            </a:pPr>
            <a:r>
              <a:t>CAGR: 10.5%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2030预测: 57亿美元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31520" y="3931920"/>
          <a:ext cx="50292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0" y="4114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💡 关键结论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• 中国数量领先，增速更快(27.5%)</a:t>
            </a:r>
          </a:p>
          <a:p>
            <a:pPr>
              <a:spcAft>
                <a:spcPts val="1200"/>
              </a:spcAft>
              <a:defRPr sz="1400"/>
            </a:pPr>
            <a:r>
              <a:t>• 美国规模领先，发展成熟</a:t>
            </a:r>
          </a:p>
          <a:p>
            <a:pPr>
              <a:spcAft>
                <a:spcPts val="1200"/>
              </a:spcAft>
              <a:defRPr sz="1400"/>
            </a:pPr>
            <a:r>
              <a:t>• 中国市场数据披露不足</a:t>
            </a:r>
          </a:p>
          <a:p>
            <a:pPr>
              <a:spcAft>
                <a:spcPts val="1200"/>
              </a:spcAft>
              <a:defRPr sz="1400"/>
            </a:pPr>
            <a:r>
              <a:t>• 两者处于不同发展阶段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中国市场发展历程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6400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0" y="4754880"/>
            <a:ext cx="1371600" cy="457200"/>
          </a:xfrm>
          <a:prstGeom prst="roundRect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482803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2016年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4828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宣布入奥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5394960"/>
            <a:ext cx="1371600" cy="4572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54681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2020年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46811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东京奥运</a:t>
            </a:r>
          </a:p>
          <a:p>
            <a:r>
              <a:t>400家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6035040"/>
            <a:ext cx="1371600" cy="4572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61081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2024年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6108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巴黎夺牌</a:t>
            </a:r>
          </a:p>
          <a:p>
            <a:r>
              <a:t>811家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中国岩馆城市分布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6858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📊 分布特征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• 一线城市密度最高</a:t>
            </a:r>
          </a:p>
          <a:p>
            <a:pPr>
              <a:spcAft>
                <a:spcPts val="1000"/>
              </a:spcAft>
              <a:defRPr sz="1400"/>
            </a:pPr>
            <a:r>
              <a:t>• 新一线城市增速最快</a:t>
            </a:r>
          </a:p>
          <a:p>
            <a:pPr>
              <a:spcAft>
                <a:spcPts val="1000"/>
              </a:spcAft>
              <a:defRPr sz="1400"/>
            </a:pPr>
            <a:r>
              <a:t>• 华东华南为主要聚集区</a:t>
            </a:r>
          </a:p>
          <a:p>
            <a:pPr>
              <a:spcAft>
                <a:spcPts val="1000"/>
              </a:spcAft>
              <a:defRPr sz="1400"/>
            </a:pPr>
            <a:r>
              <a:t>• 西部城市(成都/西安)崛起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📈 全国总计: 811家  |  同比增长: +27.5%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攀岩馆营收结构分析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💰 价格体系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单次体验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100-150元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10次卡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800-1200元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月卡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300-600元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年卡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383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3000-4000元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青少年课时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840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200-500元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企业团建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97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5000-20000元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FFFAF0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F27"/>
                </a:solidFill>
              </a:defRPr>
            </a:pPr>
            <a:r>
              <a:t>⭐ 青少年培训是高价值赛道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高客单价 × 高续费率(50%) × 快回本(2年)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单店投资与回本分析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5943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⏱️ 回本周期对比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103120"/>
            <a:ext cx="411480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24027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行业平均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224027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08080"/>
                </a:solidFill>
              </a:defRPr>
            </a:pPr>
            <a:r>
              <a:t>3-5年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926079"/>
            <a:ext cx="411480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30632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青少年培训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06323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B050"/>
                </a:solidFill>
              </a:defRPr>
            </a:pPr>
            <a:r>
              <a:t>2年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749039"/>
            <a:ext cx="411480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3886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高风险项目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886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0000"/>
                </a:solidFill>
              </a:defRPr>
            </a:pPr>
            <a:r>
              <a:t>5年+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💡 关键成功因素: 选址(商场店) + 定位(青少年培训) + 运营(社群)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主要连锁品牌竞争格局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🏆 品牌特色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0116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• 香蕉攀岩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0116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全国连锁龙头(17家)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468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• 奥攀体育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468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专注青少年培训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9260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• 蓝天攀岩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926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华南区域龙头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383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• 熊猫攀岩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3832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商场店模式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840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• 我攀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8404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王石+周鸿祎投资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389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F27"/>
                </a:solidFill>
              </a:defRPr>
            </a:pPr>
            <a:r>
              <a:t>💰 资本动态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846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我攀(ClimberA)获近千万融资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212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投资人: 王石(万科创始人) + 周鸿祎(360创始人)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用户画像与消费行为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👥 用户特征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• 年龄: 25-35岁主力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468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• 学历: 高学历为主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926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• 职业: 白领、年轻人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383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• 地域: 一二线城市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• 女性占比: 49.4%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389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F27"/>
                </a:solidFill>
              </a:defRPr>
            </a:pPr>
            <a:r>
              <a:t>💳 消费行为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8463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单次: 100-150元  |  月卡: 300-600元  |  年卡: 3000-4000元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👨‍👩‍👧 青少年家长家庭年收入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20-50万: 32%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50-100万: 28.8%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20万以上: ~60%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五大增长机会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B050"/>
                </a:solidFill>
              </a:defRPr>
            </a:pPr>
            <a:r>
              <a:t>青少年培训 ⭐⭐⭐⭐⭐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91639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高客单×高续费×快回本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331720"/>
            <a:ext cx="548640" cy="548640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7743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下沉市场 ⭐⭐⭐⭐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2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新一线(成都/武汉/西安)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383279"/>
            <a:ext cx="548640" cy="54864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74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42899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7F27"/>
                </a:solidFill>
              </a:defRPr>
            </a:pPr>
            <a:r>
              <a:t>商场主力店 ⭐⭐⭐⭐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94759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替代传统零售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434840"/>
            <a:ext cx="548640" cy="548640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262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48055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女性市场 ⭐⭐⭐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46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女性占比49.4%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5486400"/>
            <a:ext cx="548640" cy="54864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577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532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7F27"/>
                </a:solidFill>
              </a:defRPr>
            </a:pPr>
            <a:r>
              <a:t>企业团建 ⭐⭐⭐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897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B端高客单价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📈 市场规模预测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2025年: 950-1000家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468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2027年: 1300-1500家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926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2030年: 1800-2000家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市场容量: 约3000家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4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⚠️ 五大风险提示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868680"/>
          </a:xfrm>
          <a:prstGeom prst="roundRect">
            <a:avLst/>
          </a:prstGeom>
          <a:solidFill>
            <a:srgbClr val="FFF5F5"/>
          </a:solidFill>
          <a:ln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0000"/>
                </a:solidFill>
              </a:defRPr>
            </a:pPr>
            <a:r>
              <a:t>1. 盲目跟风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缺乏商业模式就入场，100万+打水漂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11247120" cy="868680"/>
          </a:xfrm>
          <a:prstGeom prst="roundRect">
            <a:avLst/>
          </a:prstGeom>
          <a:solidFill>
            <a:srgbClr val="FFF5F5"/>
          </a:solidFill>
          <a:ln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6400"/>
                </a:solidFill>
              </a:defRPr>
            </a:pPr>
            <a:r>
              <a:t>2. 高投入长周期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3-5年回本，资金链压力大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79"/>
            <a:ext cx="11247120" cy="868680"/>
          </a:xfrm>
          <a:prstGeom prst="roundRect">
            <a:avLst/>
          </a:prstGeom>
          <a:solidFill>
            <a:srgbClr val="FFF5F5"/>
          </a:solidFill>
          <a:ln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6400"/>
                </a:solidFill>
              </a:defRPr>
            </a:pPr>
            <a:r>
              <a:t>3. 人才短缺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7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教练、定线员供不应求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34840"/>
            <a:ext cx="11247120" cy="868680"/>
          </a:xfrm>
          <a:prstGeom prst="roundRect">
            <a:avLst/>
          </a:prstGeom>
          <a:solidFill>
            <a:srgbClr val="FFF5F5"/>
          </a:solidFill>
          <a:ln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262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9600"/>
                </a:solidFill>
              </a:defRPr>
            </a:pPr>
            <a:r>
              <a:t>4. 市场竞争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一线城市趋于饱和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11247120" cy="868680"/>
          </a:xfrm>
          <a:prstGeom prst="roundRect">
            <a:avLst/>
          </a:prstGeom>
          <a:solidFill>
            <a:srgbClr val="FFF5F5"/>
          </a:solidFill>
          <a:ln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9600"/>
                </a:solidFill>
              </a:defRPr>
            </a:pPr>
            <a:r>
              <a:t>5. 政策安全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培训监管+安全事故风险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💡 投资建议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926080"/>
          </a:xfrm>
          <a:prstGeom prst="roundRect">
            <a:avLst/>
          </a:prstGeom>
          <a:solidFill>
            <a:srgbClr val="F0FFF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B050"/>
                </a:solidFill>
              </a:defRPr>
            </a:pPr>
            <a:r>
              <a:t>对新进入者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✓ 优先新一线城市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✓ 差异化定位(青少年)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✓ 重视社媒营销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✓ 控制初期投资(100-150万)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2926080"/>
          </a:xfrm>
          <a:prstGeom prst="roundRect">
            <a:avLst/>
          </a:prstGeom>
          <a:solidFill>
            <a:srgbClr val="F0F8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对现有经营者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✓ 发展青少年培训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✓ 加强社群运营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✓ 探索多元收入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✓ 区域连锁化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🎯 关键成功因素: 选址(商场) + 定位(青少年) + 运营(社群) + 差异化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核心数据汇总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743200"/>
          </a:xfrm>
          <a:prstGeom prst="roundRect">
            <a:avLst/>
          </a:prstGeom>
          <a:solidFill>
            <a:srgbClr val="E6F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🇨🇳 中国市场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岩馆: 811家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增速: +27.5%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女性: 49.4%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投资: 100-400万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回本: 3-5年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2743200"/>
          </a:xfrm>
          <a:prstGeom prst="roundRect">
            <a:avLst/>
          </a:prstGeom>
          <a:solidFill>
            <a:srgbClr val="FFF5E6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27"/>
                </a:solidFill>
              </a:defRPr>
            </a:pPr>
            <a:r>
              <a:t>🇺🇸 美国市场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规模: 31亿美元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CAGR: 10.5%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2030: 57亿美元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岩馆: ~500家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490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占比: 全球37%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👥 用户画像: 25-35岁白领  |  消费: 100-150元/次  |  月卡: 300-600元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数据来源: 《2024中国攀岩行业发展报告》、Strategic Market Research、36氪、21经济网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⚠️ 重要数据缺口说明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以下数据暂未找到权威来源，建议后续补充: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7F27"/>
                </a:solidFill>
              </a:defRPr>
            </a:pPr>
            <a:r>
              <a:t>⭐⭐⭐⭐⭐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中国市场总规模(亿元)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建议: 中国登山协会/艾瑞/易观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7F27"/>
                </a:solidFill>
              </a:defRPr>
            </a:pPr>
            <a:r>
              <a:t>⭐⭐⭐⭐⭐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单店详细成本结构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建议: 行业访谈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7F27"/>
                </a:solidFill>
              </a:defRPr>
            </a:pPr>
            <a:r>
              <a:t>⭐⭐⭐⭐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926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用户复购率/留存率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建议: 场馆会员数据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7F27"/>
                </a:solidFill>
              </a:defRPr>
            </a:pPr>
            <a:r>
              <a:t>⭐⭐⭐⭐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74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美国竞争格局详情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建议: Climbing Business Journal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7F27"/>
                </a:solidFill>
              </a:defRPr>
            </a:pPr>
            <a:r>
              <a:t>⭐⭐⭐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23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二三线城市渗透率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23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建议: 大众点评数据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💡 本报告基于公开资料整理，数据仅供参考，重大决策请结合实地调研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7F27"/>
                </a:solidFill>
              </a:defRPr>
            </a:pPr>
            <a:r>
              <a:t>攀岩运动市场发展前景分析报告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报告编制: niko 🦞  |  完成日期: 2026年3月2日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配套文件: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C8C8C8"/>
                </a:solidFill>
              </a:defRPr>
            </a:pPr>
            <a:r>
              <a:t>完整报告: 攀岩运动市场发展前景分析报告_正式版_完整版.md (约50页)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